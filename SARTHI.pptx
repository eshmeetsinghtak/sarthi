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SARTHI — an agentic AI platform that guides Tier-2/3 Indian students from the first dream of studying abroad all the way to loan disbursement. In their language. With memory. Zero human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isn't one student — she represents 10 million Indian students every year who face a broken study-abroad journey. These are the 7 pains no platform solves together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NBFC is fighting for the last 30 days of a student's 12-month journey. SARTHI shows up on Day 1. We become the mentor. The loan becomes the natural outcome, not a price war.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SARTHI sits at the intersection of three broken categories. Counselors overcharge and bias students. Loan NBFCs arrive too late and commoditize. Generic AI has no memory, no India context, no loan funnel. SARTHI is the only agent that covers all three gaps.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pitch. Four phases — Discover, Decide, Apply, Fund — each one powered by AI features, each one seamlessly handing off to the next. The loop closes when Priya shares her Study Abroad Passport and three friends join. This is what zero human intervention actually looks like.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SARTHI as a true agent. It remembers every conversation. It calls specific tools — ML shortlister, ROI calculator, SOP co-pilot, loan offer engine. It's LLM-agnostic so we can optimize for cost and latency. And we've engineered DPDP and RBI compliance from day one — not as an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exactly the bonus challenge — an AI growth loop where acquisition, engagement, nurturing, conversion, and amplification all happen with zero human intervention. Every Priya who gets a loan brings three friends into the funnel. Our acquisition cost approaches zero over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SARTHI isn't a loan origination tool — it's a platform with four revenue streams and a 30-year customer LTV. Loan rev-share is primary, but lead-gen fees, premium subscriptions, and Phase 2 white-label multiply our upside. Poonawalla is our launch partner, not our product.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working prototype with scripted Priya flow lands on GitHub by May 3. Phase 1 launches with study-abroad only. By month 12, we're white-labeling the agent to the entire Indian BFSI sector and expanding to South Asian corridors.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SARTHI isn't just another hackathon submission. It's the mentor 10 million Indian students have been waiting for.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228600" cy="1005840"/>
          </a:xfrm>
          <a:prstGeom prst="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0"/>
            <a:ext cx="10058400" cy="1371600"/>
          </a:xfrm>
          <a:prstGeom prst="rect">
            <a:avLst/>
          </a:prstGeom>
          <a:noFill/>
        </p:spPr>
        <p:txBody>
          <a:bodyPr wrap="square" lIns="50800" rIns="50800" tIns="25400" bIns="25400" anchor="t">
            <a:spAutoFit/>
          </a:bodyPr>
          <a:lstStyle/>
          <a:p>
            <a:pPr algn="l"/>
            <a:r>
              <a:rPr sz="10000" b="1" i="0">
                <a:solidFill>
                  <a:srgbClr val="FFFFFF"/>
                </a:solidFill>
                <a:latin typeface="Calibri"/>
              </a:rPr>
              <a:t>SARTHI</a:t>
            </a:r>
          </a:p>
        </p:txBody>
      </p:sp>
      <p:sp>
        <p:nvSpPr>
          <p:cNvPr id="5" name="TextBox 4"/>
          <p:cNvSpPr txBox="1"/>
          <p:nvPr/>
        </p:nvSpPr>
        <p:spPr>
          <a:xfrm>
            <a:off x="777240" y="3931920"/>
            <a:ext cx="10058400" cy="548640"/>
          </a:xfrm>
          <a:prstGeom prst="rect">
            <a:avLst/>
          </a:prstGeom>
          <a:noFill/>
        </p:spPr>
        <p:txBody>
          <a:bodyPr wrap="square" lIns="50800" rIns="50800" tIns="25400" bIns="25400" anchor="t">
            <a:spAutoFit/>
          </a:bodyPr>
          <a:lstStyle/>
          <a:p>
            <a:pPr algn="l"/>
            <a:r>
              <a:rPr sz="2600" b="0" i="1">
                <a:solidFill>
                  <a:srgbClr val="F2862F"/>
                </a:solidFill>
                <a:latin typeface="Calibri"/>
              </a:rPr>
              <a:t>Your AI Sarthi — from dream to degree.</a:t>
            </a:r>
          </a:p>
        </p:txBody>
      </p:sp>
      <p:sp>
        <p:nvSpPr>
          <p:cNvPr id="6" name="TextBox 5"/>
          <p:cNvSpPr txBox="1"/>
          <p:nvPr/>
        </p:nvSpPr>
        <p:spPr>
          <a:xfrm>
            <a:off x="777240" y="5120640"/>
            <a:ext cx="10058400" cy="365760"/>
          </a:xfrm>
          <a:prstGeom prst="rect">
            <a:avLst/>
          </a:prstGeom>
          <a:noFill/>
        </p:spPr>
        <p:txBody>
          <a:bodyPr wrap="square" lIns="50800" rIns="50800" tIns="25400" bIns="25400" anchor="t">
            <a:spAutoFit/>
          </a:bodyPr>
          <a:lstStyle/>
          <a:p>
            <a:pPr algn="l"/>
            <a:r>
              <a:rPr sz="1600" b="0" i="0">
                <a:solidFill>
                  <a:srgbClr val="FFFFFF"/>
                </a:solidFill>
                <a:latin typeface="Calibri"/>
              </a:rPr>
              <a:t>Round 1  ·  Problem Statement 2</a:t>
            </a:r>
          </a:p>
        </p:txBody>
      </p:sp>
      <p:sp>
        <p:nvSpPr>
          <p:cNvPr id="7" name="TextBox 6"/>
          <p:cNvSpPr txBox="1"/>
          <p:nvPr/>
        </p:nvSpPr>
        <p:spPr>
          <a:xfrm>
            <a:off x="777240" y="5532120"/>
            <a:ext cx="10058400" cy="365760"/>
          </a:xfrm>
          <a:prstGeom prst="rect">
            <a:avLst/>
          </a:prstGeom>
          <a:noFill/>
        </p:spPr>
        <p:txBody>
          <a:bodyPr wrap="square" lIns="50800" rIns="50800" tIns="25400" bIns="25400" anchor="t">
            <a:spAutoFit/>
          </a:bodyPr>
          <a:lstStyle/>
          <a:p>
            <a:pPr algn="l"/>
            <a:r>
              <a:rPr sz="1400" b="0" i="0">
                <a:solidFill>
                  <a:srgbClr val="E8E8EF"/>
                </a:solidFill>
                <a:latin typeface="Calibri"/>
              </a:rPr>
              <a:t>CRP TenzorX 2026  ·  Poonawalla Fincorp National AI Hackathon</a:t>
            </a:r>
          </a:p>
        </p:txBody>
      </p:sp>
      <p:sp>
        <p:nvSpPr>
          <p:cNvPr id="8" name="TextBox 7"/>
          <p:cNvSpPr txBox="1"/>
          <p:nvPr/>
        </p:nvSpPr>
        <p:spPr>
          <a:xfrm>
            <a:off x="777240" y="6126480"/>
            <a:ext cx="10058400" cy="365760"/>
          </a:xfrm>
          <a:prstGeom prst="rect">
            <a:avLst/>
          </a:prstGeom>
          <a:noFill/>
        </p:spPr>
        <p:txBody>
          <a:bodyPr wrap="square" lIns="50800" rIns="50800" tIns="25400" bIns="25400" anchor="t">
            <a:spAutoFit/>
          </a:bodyPr>
          <a:lstStyle/>
          <a:p>
            <a:pPr algn="l"/>
            <a:r>
              <a:rPr sz="1200" b="0" i="1">
                <a:solidFill>
                  <a:srgbClr val="E8E8EF"/>
                </a:solidFill>
                <a:latin typeface="Calibri"/>
              </a:rPr>
              <a:t>Team: [Your Name]  ·  AI-augmented build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09728" cy="502920"/>
          </a:xfrm>
          <a:prstGeom prst="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11480"/>
            <a:ext cx="10972800" cy="731520"/>
          </a:xfrm>
          <a:prstGeom prst="rect">
            <a:avLst/>
          </a:prstGeom>
          <a:noFill/>
        </p:spPr>
        <p:txBody>
          <a:bodyPr wrap="square" lIns="50800" rIns="50800" tIns="25400" bIns="25400" anchor="t">
            <a:spAutoFit/>
          </a:bodyPr>
          <a:lstStyle/>
          <a:p>
            <a:pPr algn="l"/>
            <a:r>
              <a:rPr sz="3200" b="1" i="0">
                <a:solidFill>
                  <a:srgbClr val="1E1B4B"/>
                </a:solidFill>
                <a:latin typeface="Calibri"/>
              </a:rPr>
              <a:t>Meet Priya. India has 10 million Priyas.</a:t>
            </a:r>
          </a:p>
        </p:txBody>
      </p:sp>
      <p:sp>
        <p:nvSpPr>
          <p:cNvPr id="5" name="Rectangle 4"/>
          <p:cNvSpPr/>
          <p:nvPr/>
        </p:nvSpPr>
        <p:spPr>
          <a:xfrm>
            <a:off x="457200" y="1143000"/>
            <a:ext cx="11247120" cy="12700"/>
          </a:xfrm>
          <a:prstGeom prst="rect">
            <a:avLst/>
          </a:prstGeom>
          <a:solidFill>
            <a:srgbClr val="E8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463040"/>
            <a:ext cx="4846320" cy="475488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4206240" cy="457200"/>
          </a:xfrm>
          <a:prstGeom prst="rect">
            <a:avLst/>
          </a:prstGeom>
          <a:noFill/>
        </p:spPr>
        <p:txBody>
          <a:bodyPr wrap="square" lIns="50800" rIns="50800" tIns="25400" bIns="25400" anchor="t">
            <a:spAutoFit/>
          </a:bodyPr>
          <a:lstStyle/>
          <a:p>
            <a:pPr algn="l"/>
            <a:r>
              <a:rPr sz="1400" b="1" i="0">
                <a:solidFill>
                  <a:srgbClr val="F2862F"/>
                </a:solidFill>
                <a:latin typeface="Calibri"/>
              </a:rPr>
              <a:t>PRIYA SHARMA</a:t>
            </a:r>
          </a:p>
        </p:txBody>
      </p:sp>
      <p:sp>
        <p:nvSpPr>
          <p:cNvPr id="8" name="TextBox 7"/>
          <p:cNvSpPr txBox="1"/>
          <p:nvPr/>
        </p:nvSpPr>
        <p:spPr>
          <a:xfrm>
            <a:off x="777240" y="2148840"/>
            <a:ext cx="4206240" cy="457200"/>
          </a:xfrm>
          <a:prstGeom prst="rect">
            <a:avLst/>
          </a:prstGeom>
          <a:noFill/>
        </p:spPr>
        <p:txBody>
          <a:bodyPr wrap="square" lIns="50800" rIns="50800" tIns="25400" bIns="25400" anchor="t">
            <a:spAutoFit/>
          </a:bodyPr>
          <a:lstStyle/>
          <a:p>
            <a:pPr algn="l"/>
            <a:r>
              <a:rPr sz="2000" b="1" i="0">
                <a:solidFill>
                  <a:srgbClr val="FFFFFF"/>
                </a:solidFill>
                <a:latin typeface="Calibri"/>
              </a:rPr>
              <a:t>21 · Nagpur</a:t>
            </a:r>
          </a:p>
        </p:txBody>
      </p:sp>
      <p:sp>
        <p:nvSpPr>
          <p:cNvPr id="9" name="TextBox 8"/>
          <p:cNvSpPr txBox="1"/>
          <p:nvPr/>
        </p:nvSpPr>
        <p:spPr>
          <a:xfrm>
            <a:off x="777240" y="2788920"/>
            <a:ext cx="4206240" cy="3383280"/>
          </a:xfrm>
          <a:prstGeom prst="rect">
            <a:avLst/>
          </a:prstGeom>
          <a:noFill/>
        </p:spPr>
        <p:txBody>
          <a:bodyPr wrap="square">
            <a:spAutoFit/>
          </a:bodyPr>
          <a:lstStyle/>
          <a:p>
            <a:pPr>
              <a:lnSpc>
                <a:spcPct val="130000"/>
              </a:lnSpc>
            </a:pPr>
            <a:r>
              <a:rPr sz="1300">
                <a:solidFill>
                  <a:srgbClr val="FFFFFF"/>
                </a:solidFill>
                <a:latin typeface="Calibri"/>
              </a:rPr>
              <a:t>— Final-year Mech Engg, VNIT Nagpur · CGPA 7.8</a:t>
            </a:r>
          </a:p>
          <a:p>
            <a:pPr>
              <a:lnSpc>
                <a:spcPct val="130000"/>
              </a:lnSpc>
            </a:pPr>
            <a:r>
              <a:rPr sz="1300">
                <a:solidFill>
                  <a:srgbClr val="FFFFFF"/>
                </a:solidFill>
                <a:latin typeface="Calibri"/>
              </a:rPr>
              <a:t>— Father: small auto-parts business · ₹6L / yr</a:t>
            </a:r>
          </a:p>
          <a:p>
            <a:pPr>
              <a:lnSpc>
                <a:spcPct val="130000"/>
              </a:lnSpc>
            </a:pPr>
            <a:r>
              <a:rPr sz="1300">
                <a:solidFill>
                  <a:srgbClr val="FFFFFF"/>
                </a:solidFill>
                <a:latin typeface="Calibri"/>
              </a:rPr>
              <a:t>— Dream: MS Robotics, US / Canada</a:t>
            </a:r>
          </a:p>
          <a:p>
            <a:pPr>
              <a:lnSpc>
                <a:spcPct val="130000"/>
              </a:lnSpc>
            </a:pPr>
            <a:r>
              <a:rPr sz="1300">
                <a:solidFill>
                  <a:srgbClr val="FFFFFF"/>
                </a:solidFill>
                <a:latin typeface="Calibri"/>
              </a:rPr>
              <a:t>— Budget: ₹40–60L · ~70% on loan</a:t>
            </a:r>
          </a:p>
          <a:p>
            <a:pPr>
              <a:lnSpc>
                <a:spcPct val="130000"/>
              </a:lnSpc>
            </a:pPr>
            <a:r>
              <a:rPr sz="1300">
                <a:solidFill>
                  <a:srgbClr val="FFFFFF"/>
                </a:solidFill>
                <a:latin typeface="Calibri"/>
              </a:rPr>
              <a:t>— Speaks Marathi–Hindi at home, English in class</a:t>
            </a:r>
          </a:p>
          <a:p>
            <a:pPr>
              <a:lnSpc>
                <a:spcPct val="130000"/>
              </a:lnSpc>
            </a:pPr>
            <a:r>
              <a:rPr sz="1300">
                <a:solidFill>
                  <a:srgbClr val="FFFFFF"/>
                </a:solidFill>
                <a:latin typeface="Calibri"/>
              </a:rPr>
              <a:t>— First-in-family to consider studying abroad</a:t>
            </a:r>
          </a:p>
        </p:txBody>
      </p:sp>
      <p:sp>
        <p:nvSpPr>
          <p:cNvPr id="10" name="TextBox 9"/>
          <p:cNvSpPr txBox="1"/>
          <p:nvPr/>
        </p:nvSpPr>
        <p:spPr>
          <a:xfrm>
            <a:off x="5577840" y="1463040"/>
            <a:ext cx="6217920" cy="457200"/>
          </a:xfrm>
          <a:prstGeom prst="rect">
            <a:avLst/>
          </a:prstGeom>
          <a:noFill/>
        </p:spPr>
        <p:txBody>
          <a:bodyPr wrap="square" lIns="50800" rIns="50800" tIns="25400" bIns="25400" anchor="t">
            <a:spAutoFit/>
          </a:bodyPr>
          <a:lstStyle/>
          <a:p>
            <a:pPr algn="l"/>
            <a:r>
              <a:rPr sz="1600" b="1" i="0">
                <a:solidFill>
                  <a:srgbClr val="1E1B4B"/>
                </a:solidFill>
                <a:latin typeface="Calibri"/>
              </a:rPr>
              <a:t>Her 7 real pains</a:t>
            </a:r>
          </a:p>
        </p:txBody>
      </p:sp>
      <p:sp>
        <p:nvSpPr>
          <p:cNvPr id="11" name="Rounded Rectangle 10"/>
          <p:cNvSpPr/>
          <p:nvPr/>
        </p:nvSpPr>
        <p:spPr>
          <a:xfrm>
            <a:off x="5577840" y="1965960"/>
            <a:ext cx="2926080" cy="100584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15000" y="2103120"/>
            <a:ext cx="457200" cy="731520"/>
          </a:xfrm>
          <a:prstGeom prst="rect">
            <a:avLst/>
          </a:prstGeom>
          <a:noFill/>
        </p:spPr>
        <p:txBody>
          <a:bodyPr wrap="square" lIns="50800" rIns="50800" tIns="25400" bIns="25400" anchor="t">
            <a:spAutoFit/>
          </a:bodyPr>
          <a:lstStyle/>
          <a:p>
            <a:pPr algn="l"/>
            <a:r>
              <a:rPr sz="2200" b="0" i="0">
                <a:solidFill>
                  <a:srgbClr val="1E1B4B"/>
                </a:solidFill>
                <a:latin typeface="Calibri"/>
              </a:rPr>
              <a:t>🤯</a:t>
            </a:r>
          </a:p>
        </p:txBody>
      </p:sp>
      <p:sp>
        <p:nvSpPr>
          <p:cNvPr id="13" name="TextBox 12"/>
          <p:cNvSpPr txBox="1"/>
          <p:nvPr/>
        </p:nvSpPr>
        <p:spPr>
          <a:xfrm>
            <a:off x="6263640" y="2148840"/>
            <a:ext cx="2103120" cy="822960"/>
          </a:xfrm>
          <a:prstGeom prst="rect">
            <a:avLst/>
          </a:prstGeom>
          <a:noFill/>
        </p:spPr>
        <p:txBody>
          <a:bodyPr wrap="square" lIns="50800" rIns="50800" tIns="25400" bIns="25400" anchor="t">
            <a:spAutoFit/>
          </a:bodyPr>
          <a:lstStyle/>
          <a:p>
            <a:pPr algn="l"/>
            <a:r>
              <a:rPr sz="1100" b="0" i="0">
                <a:solidFill>
                  <a:srgbClr val="4B4B57"/>
                </a:solidFill>
                <a:latin typeface="Calibri"/>
              </a:rPr>
              <a:t>Which test? IELTS, GRE, TOEFL?</a:t>
            </a:r>
          </a:p>
        </p:txBody>
      </p:sp>
      <p:sp>
        <p:nvSpPr>
          <p:cNvPr id="14" name="Rounded Rectangle 13"/>
          <p:cNvSpPr/>
          <p:nvPr/>
        </p:nvSpPr>
        <p:spPr>
          <a:xfrm>
            <a:off x="8595360" y="1965960"/>
            <a:ext cx="2926080" cy="100584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32520" y="2103120"/>
            <a:ext cx="457200" cy="731520"/>
          </a:xfrm>
          <a:prstGeom prst="rect">
            <a:avLst/>
          </a:prstGeom>
          <a:noFill/>
        </p:spPr>
        <p:txBody>
          <a:bodyPr wrap="square" lIns="50800" rIns="50800" tIns="25400" bIns="25400" anchor="t">
            <a:spAutoFit/>
          </a:bodyPr>
          <a:lstStyle/>
          <a:p>
            <a:pPr algn="l"/>
            <a:r>
              <a:rPr sz="2200" b="0" i="0">
                <a:solidFill>
                  <a:srgbClr val="1E1B4B"/>
                </a:solidFill>
                <a:latin typeface="Calibri"/>
              </a:rPr>
              <a:t>🧭</a:t>
            </a:r>
          </a:p>
        </p:txBody>
      </p:sp>
      <p:sp>
        <p:nvSpPr>
          <p:cNvPr id="16" name="TextBox 15"/>
          <p:cNvSpPr txBox="1"/>
          <p:nvPr/>
        </p:nvSpPr>
        <p:spPr>
          <a:xfrm>
            <a:off x="9281160" y="2148840"/>
            <a:ext cx="2103120" cy="822960"/>
          </a:xfrm>
          <a:prstGeom prst="rect">
            <a:avLst/>
          </a:prstGeom>
          <a:noFill/>
        </p:spPr>
        <p:txBody>
          <a:bodyPr wrap="square" lIns="50800" rIns="50800" tIns="25400" bIns="25400" anchor="t">
            <a:spAutoFit/>
          </a:bodyPr>
          <a:lstStyle/>
          <a:p>
            <a:pPr algn="l"/>
            <a:r>
              <a:rPr sz="1100" b="0" i="0">
                <a:solidFill>
                  <a:srgbClr val="4B4B57"/>
                </a:solidFill>
                <a:latin typeface="Calibri"/>
              </a:rPr>
              <a:t>500 US unis — which 10 fit me?</a:t>
            </a:r>
          </a:p>
        </p:txBody>
      </p:sp>
      <p:sp>
        <p:nvSpPr>
          <p:cNvPr id="17" name="Rounded Rectangle 16"/>
          <p:cNvSpPr/>
          <p:nvPr/>
        </p:nvSpPr>
        <p:spPr>
          <a:xfrm>
            <a:off x="5577840" y="3063240"/>
            <a:ext cx="2926080" cy="100584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15000" y="3200400"/>
            <a:ext cx="457200" cy="731520"/>
          </a:xfrm>
          <a:prstGeom prst="rect">
            <a:avLst/>
          </a:prstGeom>
          <a:noFill/>
        </p:spPr>
        <p:txBody>
          <a:bodyPr wrap="square" lIns="50800" rIns="50800" tIns="25400" bIns="25400" anchor="t">
            <a:spAutoFit/>
          </a:bodyPr>
          <a:lstStyle/>
          <a:p>
            <a:pPr algn="l"/>
            <a:r>
              <a:rPr sz="2200" b="0" i="0">
                <a:solidFill>
                  <a:srgbClr val="1E1B4B"/>
                </a:solidFill>
                <a:latin typeface="Calibri"/>
              </a:rPr>
              <a:t>😰</a:t>
            </a:r>
          </a:p>
        </p:txBody>
      </p:sp>
      <p:sp>
        <p:nvSpPr>
          <p:cNvPr id="19" name="TextBox 18"/>
          <p:cNvSpPr txBox="1"/>
          <p:nvPr/>
        </p:nvSpPr>
        <p:spPr>
          <a:xfrm>
            <a:off x="6263640" y="3246120"/>
            <a:ext cx="2103120" cy="822960"/>
          </a:xfrm>
          <a:prstGeom prst="rect">
            <a:avLst/>
          </a:prstGeom>
          <a:noFill/>
        </p:spPr>
        <p:txBody>
          <a:bodyPr wrap="square" lIns="50800" rIns="50800" tIns="25400" bIns="25400" anchor="t">
            <a:spAutoFit/>
          </a:bodyPr>
          <a:lstStyle/>
          <a:p>
            <a:pPr algn="l"/>
            <a:r>
              <a:rPr sz="1100" b="0" i="0">
                <a:solidFill>
                  <a:srgbClr val="4B4B57"/>
                </a:solidFill>
                <a:latin typeface="Calibri"/>
              </a:rPr>
              <a:t>Will I get in? Worth ₹50L?</a:t>
            </a:r>
          </a:p>
        </p:txBody>
      </p:sp>
      <p:sp>
        <p:nvSpPr>
          <p:cNvPr id="20" name="Rounded Rectangle 19"/>
          <p:cNvSpPr/>
          <p:nvPr/>
        </p:nvSpPr>
        <p:spPr>
          <a:xfrm>
            <a:off x="8595360" y="3063240"/>
            <a:ext cx="2926080" cy="100584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732520" y="3200400"/>
            <a:ext cx="457200" cy="731520"/>
          </a:xfrm>
          <a:prstGeom prst="rect">
            <a:avLst/>
          </a:prstGeom>
          <a:noFill/>
        </p:spPr>
        <p:txBody>
          <a:bodyPr wrap="square" lIns="50800" rIns="50800" tIns="25400" bIns="25400" anchor="t">
            <a:spAutoFit/>
          </a:bodyPr>
          <a:lstStyle/>
          <a:p>
            <a:pPr algn="l"/>
            <a:r>
              <a:rPr sz="2200" b="0" i="0">
                <a:solidFill>
                  <a:srgbClr val="1E1B4B"/>
                </a:solidFill>
                <a:latin typeface="Calibri"/>
              </a:rPr>
              <a:t>🏠</a:t>
            </a:r>
          </a:p>
        </p:txBody>
      </p:sp>
      <p:sp>
        <p:nvSpPr>
          <p:cNvPr id="22" name="TextBox 21"/>
          <p:cNvSpPr txBox="1"/>
          <p:nvPr/>
        </p:nvSpPr>
        <p:spPr>
          <a:xfrm>
            <a:off x="9281160" y="3246120"/>
            <a:ext cx="2103120" cy="822960"/>
          </a:xfrm>
          <a:prstGeom prst="rect">
            <a:avLst/>
          </a:prstGeom>
          <a:noFill/>
        </p:spPr>
        <p:txBody>
          <a:bodyPr wrap="square" lIns="50800" rIns="50800" tIns="25400" bIns="25400" anchor="t">
            <a:spAutoFit/>
          </a:bodyPr>
          <a:lstStyle/>
          <a:p>
            <a:pPr algn="l"/>
            <a:r>
              <a:rPr sz="1100" b="0" i="0">
                <a:solidFill>
                  <a:srgbClr val="4B4B57"/>
                </a:solidFill>
                <a:latin typeface="Calibri"/>
              </a:rPr>
              <a:t>Family can't guide me.</a:t>
            </a:r>
          </a:p>
        </p:txBody>
      </p:sp>
      <p:sp>
        <p:nvSpPr>
          <p:cNvPr id="23" name="Rounded Rectangle 22"/>
          <p:cNvSpPr/>
          <p:nvPr/>
        </p:nvSpPr>
        <p:spPr>
          <a:xfrm>
            <a:off x="5577840" y="4160520"/>
            <a:ext cx="2926080" cy="100584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15000" y="4297680"/>
            <a:ext cx="457200" cy="731520"/>
          </a:xfrm>
          <a:prstGeom prst="rect">
            <a:avLst/>
          </a:prstGeom>
          <a:noFill/>
        </p:spPr>
        <p:txBody>
          <a:bodyPr wrap="square" lIns="50800" rIns="50800" tIns="25400" bIns="25400" anchor="t">
            <a:spAutoFit/>
          </a:bodyPr>
          <a:lstStyle/>
          <a:p>
            <a:pPr algn="l"/>
            <a:r>
              <a:rPr sz="2200" b="0" i="0">
                <a:solidFill>
                  <a:srgbClr val="1E1B4B"/>
                </a:solidFill>
                <a:latin typeface="Calibri"/>
              </a:rPr>
              <a:t>🗣️</a:t>
            </a:r>
          </a:p>
        </p:txBody>
      </p:sp>
      <p:sp>
        <p:nvSpPr>
          <p:cNvPr id="25" name="TextBox 24"/>
          <p:cNvSpPr txBox="1"/>
          <p:nvPr/>
        </p:nvSpPr>
        <p:spPr>
          <a:xfrm>
            <a:off x="6263640" y="4343400"/>
            <a:ext cx="2103120" cy="822960"/>
          </a:xfrm>
          <a:prstGeom prst="rect">
            <a:avLst/>
          </a:prstGeom>
          <a:noFill/>
        </p:spPr>
        <p:txBody>
          <a:bodyPr wrap="square" lIns="50800" rIns="50800" tIns="25400" bIns="25400" anchor="t">
            <a:spAutoFit/>
          </a:bodyPr>
          <a:lstStyle/>
          <a:p>
            <a:pPr algn="l"/>
            <a:r>
              <a:rPr sz="1100" b="0" i="0">
                <a:solidFill>
                  <a:srgbClr val="4B4B57"/>
                </a:solidFill>
                <a:latin typeface="Calibri"/>
              </a:rPr>
              <a:t>Think in Marathi. Internet in English.</a:t>
            </a:r>
          </a:p>
        </p:txBody>
      </p:sp>
      <p:sp>
        <p:nvSpPr>
          <p:cNvPr id="26" name="Rounded Rectangle 25"/>
          <p:cNvSpPr/>
          <p:nvPr/>
        </p:nvSpPr>
        <p:spPr>
          <a:xfrm>
            <a:off x="8595360" y="4160520"/>
            <a:ext cx="2926080" cy="100584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32520" y="4297680"/>
            <a:ext cx="457200" cy="731520"/>
          </a:xfrm>
          <a:prstGeom prst="rect">
            <a:avLst/>
          </a:prstGeom>
          <a:noFill/>
        </p:spPr>
        <p:txBody>
          <a:bodyPr wrap="square" lIns="50800" rIns="50800" tIns="25400" bIns="25400" anchor="t">
            <a:spAutoFit/>
          </a:bodyPr>
          <a:lstStyle/>
          <a:p>
            <a:pPr algn="l"/>
            <a:r>
              <a:rPr sz="2200" b="0" i="0">
                <a:solidFill>
                  <a:srgbClr val="1E1B4B"/>
                </a:solidFill>
                <a:latin typeface="Calibri"/>
              </a:rPr>
              <a:t>🏦</a:t>
            </a:r>
          </a:p>
        </p:txBody>
      </p:sp>
      <p:sp>
        <p:nvSpPr>
          <p:cNvPr id="28" name="TextBox 27"/>
          <p:cNvSpPr txBox="1"/>
          <p:nvPr/>
        </p:nvSpPr>
        <p:spPr>
          <a:xfrm>
            <a:off x="9281160" y="4343400"/>
            <a:ext cx="2103120" cy="822960"/>
          </a:xfrm>
          <a:prstGeom prst="rect">
            <a:avLst/>
          </a:prstGeom>
          <a:noFill/>
        </p:spPr>
        <p:txBody>
          <a:bodyPr wrap="square" lIns="50800" rIns="50800" tIns="25400" bIns="25400" anchor="t">
            <a:spAutoFit/>
          </a:bodyPr>
          <a:lstStyle/>
          <a:p>
            <a:pPr algn="l"/>
            <a:r>
              <a:rPr sz="1100" b="0" i="0">
                <a:solidFill>
                  <a:srgbClr val="4B4B57"/>
                </a:solidFill>
                <a:latin typeface="Calibri"/>
              </a:rPr>
              <a:t>Messy papers — any NBFC say yes?</a:t>
            </a:r>
          </a:p>
        </p:txBody>
      </p:sp>
      <p:sp>
        <p:nvSpPr>
          <p:cNvPr id="29" name="Rounded Rectangle 28"/>
          <p:cNvSpPr/>
          <p:nvPr/>
        </p:nvSpPr>
        <p:spPr>
          <a:xfrm>
            <a:off x="5577840" y="5257800"/>
            <a:ext cx="2926080" cy="100584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15000" y="5394960"/>
            <a:ext cx="457200" cy="731520"/>
          </a:xfrm>
          <a:prstGeom prst="rect">
            <a:avLst/>
          </a:prstGeom>
          <a:noFill/>
        </p:spPr>
        <p:txBody>
          <a:bodyPr wrap="square" lIns="50800" rIns="50800" tIns="25400" bIns="25400" anchor="t">
            <a:spAutoFit/>
          </a:bodyPr>
          <a:lstStyle/>
          <a:p>
            <a:pPr algn="l"/>
            <a:r>
              <a:rPr sz="2200" b="0" i="0">
                <a:solidFill>
                  <a:srgbClr val="1E1B4B"/>
                </a:solidFill>
                <a:latin typeface="Calibri"/>
              </a:rPr>
              <a:t>💸</a:t>
            </a:r>
          </a:p>
        </p:txBody>
      </p:sp>
      <p:sp>
        <p:nvSpPr>
          <p:cNvPr id="31" name="TextBox 30"/>
          <p:cNvSpPr txBox="1"/>
          <p:nvPr/>
        </p:nvSpPr>
        <p:spPr>
          <a:xfrm>
            <a:off x="6263640" y="5440680"/>
            <a:ext cx="2103120" cy="822960"/>
          </a:xfrm>
          <a:prstGeom prst="rect">
            <a:avLst/>
          </a:prstGeom>
          <a:noFill/>
        </p:spPr>
        <p:txBody>
          <a:bodyPr wrap="square" lIns="50800" rIns="50800" tIns="25400" bIns="25400" anchor="t">
            <a:spAutoFit/>
          </a:bodyPr>
          <a:lstStyle/>
          <a:p>
            <a:pPr algn="l"/>
            <a:r>
              <a:rPr sz="1100" b="0" i="0">
                <a:solidFill>
                  <a:srgbClr val="4B4B57"/>
                </a:solidFill>
                <a:latin typeface="Calibri"/>
              </a:rPr>
              <a:t>Counselors ₹1L — push their favorites.</a:t>
            </a:r>
          </a:p>
        </p:txBody>
      </p:sp>
      <p:sp>
        <p:nvSpPr>
          <p:cNvPr id="32" name="Rectangle 31"/>
          <p:cNvSpPr/>
          <p:nvPr/>
        </p:nvSpPr>
        <p:spPr>
          <a:xfrm>
            <a:off x="0" y="6537960"/>
            <a:ext cx="12191695" cy="32004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6565392"/>
            <a:ext cx="11247120" cy="274320"/>
          </a:xfrm>
          <a:prstGeom prst="rect">
            <a:avLst/>
          </a:prstGeom>
          <a:noFill/>
        </p:spPr>
        <p:txBody>
          <a:bodyPr wrap="square" lIns="50800" rIns="50800" tIns="25400" bIns="25400" anchor="t">
            <a:spAutoFit/>
          </a:bodyPr>
          <a:lstStyle/>
          <a:p>
            <a:pPr algn="l"/>
            <a:r>
              <a:rPr sz="1000" b="0" i="1">
                <a:solidFill>
                  <a:srgbClr val="FFFFFF"/>
                </a:solidFill>
                <a:latin typeface="Calibri"/>
              </a:rPr>
              <a:t>SARTHI  ·  Your AI Sarthi — from dream to degree.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09728" cy="502920"/>
          </a:xfrm>
          <a:prstGeom prst="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11480"/>
            <a:ext cx="10972800" cy="731520"/>
          </a:xfrm>
          <a:prstGeom prst="rect">
            <a:avLst/>
          </a:prstGeom>
          <a:noFill/>
        </p:spPr>
        <p:txBody>
          <a:bodyPr wrap="square" lIns="50800" rIns="50800" tIns="25400" bIns="25400" anchor="t">
            <a:spAutoFit/>
          </a:bodyPr>
          <a:lstStyle/>
          <a:p>
            <a:pPr algn="l"/>
            <a:r>
              <a:rPr sz="3200" b="1" i="0">
                <a:solidFill>
                  <a:srgbClr val="1E1B4B"/>
                </a:solidFill>
                <a:latin typeface="Calibri"/>
              </a:rPr>
              <a:t>Relationship  &gt;  Transaction.</a:t>
            </a:r>
          </a:p>
        </p:txBody>
      </p:sp>
      <p:sp>
        <p:nvSpPr>
          <p:cNvPr id="5" name="Rectangle 4"/>
          <p:cNvSpPr/>
          <p:nvPr/>
        </p:nvSpPr>
        <p:spPr>
          <a:xfrm>
            <a:off x="457200" y="1143000"/>
            <a:ext cx="11247120" cy="12700"/>
          </a:xfrm>
          <a:prstGeom prst="rect">
            <a:avLst/>
          </a:prstGeom>
          <a:solidFill>
            <a:srgbClr val="E8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554480"/>
            <a:ext cx="11247120" cy="1737360"/>
          </a:xfrm>
          <a:prstGeom prst="roundRect">
            <a:avLst/>
          </a:prstGeom>
          <a:solidFill>
            <a:srgbClr val="E8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37360"/>
            <a:ext cx="2286000" cy="457200"/>
          </a:xfrm>
          <a:prstGeom prst="rect">
            <a:avLst/>
          </a:prstGeom>
          <a:noFill/>
        </p:spPr>
        <p:txBody>
          <a:bodyPr wrap="square" lIns="50800" rIns="50800" tIns="25400" bIns="25400" anchor="t">
            <a:spAutoFit/>
          </a:bodyPr>
          <a:lstStyle/>
          <a:p>
            <a:pPr algn="l"/>
            <a:r>
              <a:rPr sz="1400" b="1" i="0">
                <a:solidFill>
                  <a:srgbClr val="4B4B57"/>
                </a:solidFill>
                <a:latin typeface="Calibri"/>
              </a:rPr>
              <a:t>TODAY'S NBFC</a:t>
            </a:r>
          </a:p>
        </p:txBody>
      </p:sp>
      <p:sp>
        <p:nvSpPr>
          <p:cNvPr id="8" name="TextBox 7"/>
          <p:cNvSpPr txBox="1"/>
          <p:nvPr/>
        </p:nvSpPr>
        <p:spPr>
          <a:xfrm>
            <a:off x="822960" y="2194560"/>
            <a:ext cx="10515600" cy="1005840"/>
          </a:xfrm>
          <a:prstGeom prst="rect">
            <a:avLst/>
          </a:prstGeom>
          <a:noFill/>
        </p:spPr>
        <p:txBody>
          <a:bodyPr wrap="square" lIns="50800" rIns="50800" tIns="25400" bIns="25400" anchor="t">
            <a:spAutoFit/>
          </a:bodyPr>
          <a:lstStyle/>
          <a:p>
            <a:pPr algn="l"/>
            <a:r>
              <a:rPr sz="1500" b="0" i="0">
                <a:solidFill>
                  <a:srgbClr val="4B4B57"/>
                </a:solidFill>
                <a:latin typeface="Calibri"/>
              </a:rPr>
              <a:t>Shows up on Day-330. Fights a commodity price war on loan rates.</a:t>
            </a:r>
          </a:p>
          <a:p>
            <a:pPr algn="l"/>
            <a:r>
              <a:rPr sz="1500" b="0" i="0">
                <a:solidFill>
                  <a:srgbClr val="4B4B57"/>
                </a:solidFill>
                <a:latin typeface="Calibri"/>
              </a:rPr>
              <a:t>Student has no loyalty. NBFC has no engagement. Loan is a transaction.</a:t>
            </a:r>
          </a:p>
        </p:txBody>
      </p:sp>
      <p:sp>
        <p:nvSpPr>
          <p:cNvPr id="9" name="Rounded Rectangle 8"/>
          <p:cNvSpPr/>
          <p:nvPr/>
        </p:nvSpPr>
        <p:spPr>
          <a:xfrm>
            <a:off x="457200" y="3520440"/>
            <a:ext cx="11247120" cy="17373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703320"/>
            <a:ext cx="2286000" cy="457200"/>
          </a:xfrm>
          <a:prstGeom prst="rect">
            <a:avLst/>
          </a:prstGeom>
          <a:noFill/>
        </p:spPr>
        <p:txBody>
          <a:bodyPr wrap="square" lIns="50800" rIns="50800" tIns="25400" bIns="25400" anchor="t">
            <a:spAutoFit/>
          </a:bodyPr>
          <a:lstStyle/>
          <a:p>
            <a:pPr algn="l"/>
            <a:r>
              <a:rPr sz="1400" b="1" i="0">
                <a:solidFill>
                  <a:srgbClr val="F2862F"/>
                </a:solidFill>
                <a:latin typeface="Calibri"/>
              </a:rPr>
              <a:t>SARTHI</a:t>
            </a:r>
          </a:p>
        </p:txBody>
      </p:sp>
      <p:sp>
        <p:nvSpPr>
          <p:cNvPr id="11" name="TextBox 10"/>
          <p:cNvSpPr txBox="1"/>
          <p:nvPr/>
        </p:nvSpPr>
        <p:spPr>
          <a:xfrm>
            <a:off x="822960" y="4160520"/>
            <a:ext cx="10515600" cy="1005840"/>
          </a:xfrm>
          <a:prstGeom prst="rect">
            <a:avLst/>
          </a:prstGeom>
          <a:noFill/>
        </p:spPr>
        <p:txBody>
          <a:bodyPr wrap="square" lIns="50800" rIns="50800" tIns="25400" bIns="25400" anchor="t">
            <a:spAutoFit/>
          </a:bodyPr>
          <a:lstStyle/>
          <a:p>
            <a:pPr algn="l"/>
            <a:r>
              <a:rPr sz="1500" b="0" i="0">
                <a:solidFill>
                  <a:srgbClr val="FFFFFF"/>
                </a:solidFill>
                <a:latin typeface="Calibri"/>
              </a:rPr>
              <a:t>Shows up on Day-1. Becomes the 12-month AI mentor.</a:t>
            </a:r>
          </a:p>
          <a:p>
            <a:pPr algn="l"/>
            <a:r>
              <a:rPr sz="1500" b="0" i="0">
                <a:solidFill>
                  <a:srgbClr val="FFFFFF"/>
                </a:solidFill>
                <a:latin typeface="Calibri"/>
              </a:rPr>
              <a:t>The loan is the natural outcome — not the start.</a:t>
            </a:r>
          </a:p>
        </p:txBody>
      </p:sp>
      <p:sp>
        <p:nvSpPr>
          <p:cNvPr id="12" name="TextBox 11"/>
          <p:cNvSpPr txBox="1"/>
          <p:nvPr/>
        </p:nvSpPr>
        <p:spPr>
          <a:xfrm>
            <a:off x="457200" y="5577840"/>
            <a:ext cx="11247120" cy="640080"/>
          </a:xfrm>
          <a:prstGeom prst="rect">
            <a:avLst/>
          </a:prstGeom>
          <a:noFill/>
        </p:spPr>
        <p:txBody>
          <a:bodyPr wrap="square" lIns="50800" rIns="50800" tIns="25400" bIns="25400" anchor="t">
            <a:spAutoFit/>
          </a:bodyPr>
          <a:lstStyle/>
          <a:p>
            <a:pPr algn="ctr"/>
            <a:r>
              <a:rPr sz="2200" b="1" i="1">
                <a:solidFill>
                  <a:srgbClr val="F2862F"/>
                </a:solidFill>
                <a:latin typeface="Calibri"/>
              </a:rPr>
              <a:t>We don't sell loans. We build 12-month relationships that end in loans.</a:t>
            </a:r>
          </a:p>
        </p:txBody>
      </p:sp>
      <p:sp>
        <p:nvSpPr>
          <p:cNvPr id="13" name="Rectangle 12"/>
          <p:cNvSpPr/>
          <p:nvPr/>
        </p:nvSpPr>
        <p:spPr>
          <a:xfrm>
            <a:off x="0" y="6537960"/>
            <a:ext cx="12191695" cy="32004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11247120" cy="274320"/>
          </a:xfrm>
          <a:prstGeom prst="rect">
            <a:avLst/>
          </a:prstGeom>
          <a:noFill/>
        </p:spPr>
        <p:txBody>
          <a:bodyPr wrap="square" lIns="50800" rIns="50800" tIns="25400" bIns="25400" anchor="t">
            <a:spAutoFit/>
          </a:bodyPr>
          <a:lstStyle/>
          <a:p>
            <a:pPr algn="l"/>
            <a:r>
              <a:rPr sz="1000" b="0" i="1">
                <a:solidFill>
                  <a:srgbClr val="FFFFFF"/>
                </a:solidFill>
                <a:latin typeface="Calibri"/>
              </a:rPr>
              <a:t>SARTHI  ·  Your AI Sarthi — from dream to degree.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09728" cy="502920"/>
          </a:xfrm>
          <a:prstGeom prst="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11480"/>
            <a:ext cx="10972800" cy="731520"/>
          </a:xfrm>
          <a:prstGeom prst="rect">
            <a:avLst/>
          </a:prstGeom>
          <a:noFill/>
        </p:spPr>
        <p:txBody>
          <a:bodyPr wrap="square" lIns="50800" rIns="50800" tIns="25400" bIns="25400" anchor="t">
            <a:spAutoFit/>
          </a:bodyPr>
          <a:lstStyle/>
          <a:p>
            <a:pPr algn="l"/>
            <a:r>
              <a:rPr sz="3200" b="1" i="0">
                <a:solidFill>
                  <a:srgbClr val="1E1B4B"/>
                </a:solidFill>
                <a:latin typeface="Calibri"/>
              </a:rPr>
              <a:t>Not a chatbot. An agent.</a:t>
            </a:r>
          </a:p>
        </p:txBody>
      </p:sp>
      <p:sp>
        <p:nvSpPr>
          <p:cNvPr id="5" name="Rectangle 4"/>
          <p:cNvSpPr/>
          <p:nvPr/>
        </p:nvSpPr>
        <p:spPr>
          <a:xfrm>
            <a:off x="457200" y="1143000"/>
            <a:ext cx="11247120" cy="12700"/>
          </a:xfrm>
          <a:prstGeom prst="rect">
            <a:avLst/>
          </a:prstGeom>
          <a:solidFill>
            <a:srgbClr val="E8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25880"/>
            <a:ext cx="11247120" cy="457200"/>
          </a:xfrm>
          <a:prstGeom prst="rect">
            <a:avLst/>
          </a:prstGeom>
          <a:noFill/>
        </p:spPr>
        <p:txBody>
          <a:bodyPr wrap="square" lIns="50800" rIns="50800" tIns="25400" bIns="25400" anchor="t">
            <a:spAutoFit/>
          </a:bodyPr>
          <a:lstStyle/>
          <a:p>
            <a:pPr algn="l"/>
            <a:r>
              <a:rPr sz="1500" b="1" i="0">
                <a:solidFill>
                  <a:srgbClr val="1E1B4B"/>
                </a:solidFill>
                <a:latin typeface="Calibri"/>
              </a:rPr>
              <a:t>SARTHI (सारथी) — the charioteer  ·  Your AI Sarthi, from dream to degree.</a:t>
            </a:r>
          </a:p>
        </p:txBody>
      </p:sp>
      <p:sp>
        <p:nvSpPr>
          <p:cNvPr id="7" name="TextBox 6"/>
          <p:cNvSpPr txBox="1"/>
          <p:nvPr/>
        </p:nvSpPr>
        <p:spPr>
          <a:xfrm>
            <a:off x="457200" y="1783080"/>
            <a:ext cx="11247120" cy="457200"/>
          </a:xfrm>
          <a:prstGeom prst="rect">
            <a:avLst/>
          </a:prstGeom>
          <a:noFill/>
        </p:spPr>
        <p:txBody>
          <a:bodyPr wrap="square" lIns="50800" rIns="50800" tIns="25400" bIns="25400" anchor="t">
            <a:spAutoFit/>
          </a:bodyPr>
          <a:lstStyle/>
          <a:p>
            <a:pPr algn="l"/>
            <a:r>
              <a:rPr sz="1200" b="0" i="1">
                <a:solidFill>
                  <a:srgbClr val="4B4B57"/>
                </a:solidFill>
                <a:latin typeface="Calibri"/>
              </a:rPr>
              <a:t>Agentic AI platform guiding Tier-2/3 Indian students end-to-end — in their language, with memory, with action.</a:t>
            </a:r>
          </a:p>
        </p:txBody>
      </p:sp>
      <p:graphicFrame>
        <p:nvGraphicFramePr>
          <p:cNvPr id="8" name="Table 7"/>
          <p:cNvGraphicFramePr>
            <a:graphicFrameLocks noGrp="1"/>
          </p:cNvGraphicFramePr>
          <p:nvPr/>
        </p:nvGraphicFramePr>
        <p:xfrm>
          <a:off x="457200" y="2468880"/>
          <a:ext cx="11247120" cy="3108960"/>
        </p:xfrm>
        <a:graphic>
          <a:graphicData uri="http://schemas.openxmlformats.org/drawingml/2006/table">
            <a:tbl>
              <a:tblPr firstRow="1" bandRow="1">
                <a:tableStyleId>{5C22544A-7EE6-4342-B048-85BDC9FD1C3A}</a:tableStyleId>
              </a:tblPr>
              <a:tblGrid>
                <a:gridCol w="1737360"/>
                <a:gridCol w="2834640"/>
                <a:gridCol w="3200400"/>
                <a:gridCol w="3474720"/>
              </a:tblGrid>
              <a:tr h="777240">
                <a:tc>
                  <a:txBody>
                    <a:bodyPr lIns="76200" rIns="76200" tIns="50800" bIns="50800" wrap="square"/>
                    <a:lstStyle/>
                    <a:p>
                      <a:pPr algn="l"/>
                      <a:r>
                        <a:rPr sz="1200" b="1">
                          <a:solidFill>
                            <a:srgbClr val="FFFFFF"/>
                          </a:solidFill>
                          <a:latin typeface="Calibri"/>
                        </a:rPr>
                        <a:t>Category</a:t>
                      </a:r>
                    </a:p>
                  </a:txBody>
                  <a:tcPr>
                    <a:solidFill>
                      <a:srgbClr val="1E1B4B"/>
                    </a:solidFill>
                  </a:tcPr>
                </a:tc>
                <a:tc>
                  <a:txBody>
                    <a:bodyPr lIns="76200" rIns="76200" tIns="50800" bIns="50800" wrap="square"/>
                    <a:lstStyle/>
                    <a:p>
                      <a:pPr algn="l"/>
                      <a:r>
                        <a:rPr sz="1200" b="1">
                          <a:solidFill>
                            <a:srgbClr val="FFFFFF"/>
                          </a:solidFill>
                          <a:latin typeface="Calibri"/>
                        </a:rPr>
                        <a:t>Who they are</a:t>
                      </a:r>
                    </a:p>
                  </a:txBody>
                  <a:tcPr>
                    <a:solidFill>
                      <a:srgbClr val="1E1B4B"/>
                    </a:solidFill>
                  </a:tcPr>
                </a:tc>
                <a:tc>
                  <a:txBody>
                    <a:bodyPr lIns="76200" rIns="76200" tIns="50800" bIns="50800" wrap="square"/>
                    <a:lstStyle/>
                    <a:p>
                      <a:pPr algn="l"/>
                      <a:r>
                        <a:rPr sz="1200" b="1">
                          <a:solidFill>
                            <a:srgbClr val="FFFFFF"/>
                          </a:solidFill>
                          <a:latin typeface="Calibri"/>
                        </a:rPr>
                        <a:t>Their gap</a:t>
                      </a:r>
                    </a:p>
                  </a:txBody>
                  <a:tcPr>
                    <a:solidFill>
                      <a:srgbClr val="1E1B4B"/>
                    </a:solidFill>
                  </a:tcPr>
                </a:tc>
                <a:tc>
                  <a:txBody>
                    <a:bodyPr lIns="76200" rIns="76200" tIns="50800" bIns="50800" wrap="square"/>
                    <a:lstStyle/>
                    <a:p>
                      <a:pPr algn="l"/>
                      <a:r>
                        <a:rPr sz="1200" b="1">
                          <a:solidFill>
                            <a:srgbClr val="FFFFFF"/>
                          </a:solidFill>
                          <a:latin typeface="Calibri"/>
                        </a:rPr>
                        <a:t>SARTHI's answer</a:t>
                      </a:r>
                    </a:p>
                  </a:txBody>
                  <a:tcPr>
                    <a:solidFill>
                      <a:srgbClr val="1E1B4B"/>
                    </a:solidFill>
                  </a:tcPr>
                </a:tc>
              </a:tr>
              <a:tr h="777240">
                <a:tc>
                  <a:txBody>
                    <a:bodyPr lIns="76200" rIns="76200" tIns="50800" bIns="50800" wrap="square"/>
                    <a:lstStyle/>
                    <a:p>
                      <a:pPr algn="l"/>
                      <a:r>
                        <a:rPr sz="1100" b="1">
                          <a:solidFill>
                            <a:srgbClr val="1E1B4B"/>
                          </a:solidFill>
                          <a:latin typeface="Calibri"/>
                        </a:rPr>
                        <a:t>Counselors</a:t>
                      </a:r>
                    </a:p>
                  </a:txBody>
                  <a:tcPr>
                    <a:solidFill>
                      <a:srgbClr val="FFFFFF"/>
                    </a:solidFill>
                  </a:tcPr>
                </a:tc>
                <a:tc>
                  <a:txBody>
                    <a:bodyPr lIns="76200" rIns="76200" tIns="50800" bIns="50800" wrap="square"/>
                    <a:lstStyle/>
                    <a:p>
                      <a:pPr algn="l"/>
                      <a:r>
                        <a:rPr sz="1100" b="0">
                          <a:solidFill>
                            <a:srgbClr val="4B4B57"/>
                          </a:solidFill>
                          <a:latin typeface="Calibri"/>
                        </a:rPr>
                        <a:t>Leverage Edu · Yocket · Shiksha</a:t>
                      </a:r>
                    </a:p>
                  </a:txBody>
                  <a:tcPr>
                    <a:solidFill>
                      <a:srgbClr val="FFFFFF"/>
                    </a:solidFill>
                  </a:tcPr>
                </a:tc>
                <a:tc>
                  <a:txBody>
                    <a:bodyPr lIns="76200" rIns="76200" tIns="50800" bIns="50800" wrap="square"/>
                    <a:lstStyle/>
                    <a:p>
                      <a:pPr algn="l"/>
                      <a:r>
                        <a:rPr sz="1100" b="0">
                          <a:solidFill>
                            <a:srgbClr val="4B4B57"/>
                          </a:solidFill>
                          <a:latin typeface="Calibri"/>
                        </a:rPr>
                        <a:t>₹50k–₹2L · biased · English-only</a:t>
                      </a:r>
                    </a:p>
                  </a:txBody>
                  <a:tcPr>
                    <a:solidFill>
                      <a:srgbClr val="FFFFFF"/>
                    </a:solidFill>
                  </a:tcPr>
                </a:tc>
                <a:tc>
                  <a:txBody>
                    <a:bodyPr lIns="76200" rIns="76200" tIns="50800" bIns="50800" wrap="square"/>
                    <a:lstStyle/>
                    <a:p>
                      <a:pPr algn="l"/>
                      <a:r>
                        <a:rPr sz="1100" b="0">
                          <a:solidFill>
                            <a:srgbClr val="4B4B57"/>
                          </a:solidFill>
                          <a:latin typeface="Calibri"/>
                        </a:rPr>
                        <a:t>Free · consistent AI · vernacular · unbiased</a:t>
                      </a:r>
                    </a:p>
                  </a:txBody>
                  <a:tcPr>
                    <a:solidFill>
                      <a:srgbClr val="FFFFFF"/>
                    </a:solidFill>
                  </a:tcPr>
                </a:tc>
              </a:tr>
              <a:tr h="777240">
                <a:tc>
                  <a:txBody>
                    <a:bodyPr lIns="76200" rIns="76200" tIns="50800" bIns="50800" wrap="square"/>
                    <a:lstStyle/>
                    <a:p>
                      <a:pPr algn="l"/>
                      <a:r>
                        <a:rPr sz="1100" b="1">
                          <a:solidFill>
                            <a:srgbClr val="1E1B4B"/>
                          </a:solidFill>
                          <a:latin typeface="Calibri"/>
                        </a:rPr>
                        <a:t>Loan NBFCs</a:t>
                      </a:r>
                    </a:p>
                  </a:txBody>
                  <a:tcPr>
                    <a:solidFill>
                      <a:srgbClr val="E8E8EF"/>
                    </a:solidFill>
                  </a:tcPr>
                </a:tc>
                <a:tc>
                  <a:txBody>
                    <a:bodyPr lIns="76200" rIns="76200" tIns="50800" bIns="50800" wrap="square"/>
                    <a:lstStyle/>
                    <a:p>
                      <a:pPr algn="l"/>
                      <a:r>
                        <a:rPr sz="1100" b="0">
                          <a:solidFill>
                            <a:srgbClr val="4B4B57"/>
                          </a:solidFill>
                          <a:latin typeface="Calibri"/>
                        </a:rPr>
                        <a:t>Credila · Avanse · Auxilo · Prodigy</a:t>
                      </a:r>
                    </a:p>
                  </a:txBody>
                  <a:tcPr>
                    <a:solidFill>
                      <a:srgbClr val="E8E8EF"/>
                    </a:solidFill>
                  </a:tcPr>
                </a:tc>
                <a:tc>
                  <a:txBody>
                    <a:bodyPr lIns="76200" rIns="76200" tIns="50800" bIns="50800" wrap="square"/>
                    <a:lstStyle/>
                    <a:p>
                      <a:pPr algn="l"/>
                      <a:r>
                        <a:rPr sz="1100" b="0">
                          <a:solidFill>
                            <a:srgbClr val="4B4B57"/>
                          </a:solidFill>
                          <a:latin typeface="Calibri"/>
                        </a:rPr>
                        <a:t>Arrive too late · commodity price war</a:t>
                      </a:r>
                    </a:p>
                  </a:txBody>
                  <a:tcPr>
                    <a:solidFill>
                      <a:srgbClr val="E8E8EF"/>
                    </a:solidFill>
                  </a:tcPr>
                </a:tc>
                <a:tc>
                  <a:txBody>
                    <a:bodyPr lIns="76200" rIns="76200" tIns="50800" bIns="50800" wrap="square"/>
                    <a:lstStyle/>
                    <a:p>
                      <a:pPr algn="l"/>
                      <a:r>
                        <a:rPr sz="1100" b="0">
                          <a:solidFill>
                            <a:srgbClr val="4B4B57"/>
                          </a:solidFill>
                          <a:latin typeface="Calibri"/>
                        </a:rPr>
                        <a:t>12-month pre-loan relationship · propensity data</a:t>
                      </a:r>
                    </a:p>
                  </a:txBody>
                  <a:tcPr>
                    <a:solidFill>
                      <a:srgbClr val="E8E8EF"/>
                    </a:solidFill>
                  </a:tcPr>
                </a:tc>
              </a:tr>
              <a:tr h="777240">
                <a:tc>
                  <a:txBody>
                    <a:bodyPr lIns="76200" rIns="76200" tIns="50800" bIns="50800" wrap="square"/>
                    <a:lstStyle/>
                    <a:p>
                      <a:pPr algn="l"/>
                      <a:r>
                        <a:rPr sz="1100" b="1">
                          <a:solidFill>
                            <a:srgbClr val="1E1B4B"/>
                          </a:solidFill>
                          <a:latin typeface="Calibri"/>
                        </a:rPr>
                        <a:t>Generic AI</a:t>
                      </a:r>
                    </a:p>
                  </a:txBody>
                  <a:tcPr>
                    <a:solidFill>
                      <a:srgbClr val="FFFFFF"/>
                    </a:solidFill>
                  </a:tcPr>
                </a:tc>
                <a:tc>
                  <a:txBody>
                    <a:bodyPr lIns="76200" rIns="76200" tIns="50800" bIns="50800" wrap="square"/>
                    <a:lstStyle/>
                    <a:p>
                      <a:pPr algn="l"/>
                      <a:r>
                        <a:rPr sz="1100" b="0">
                          <a:solidFill>
                            <a:srgbClr val="4B4B57"/>
                          </a:solidFill>
                          <a:latin typeface="Calibri"/>
                        </a:rPr>
                        <a:t>ChatGPT · Gemini · other LLMs</a:t>
                      </a:r>
                    </a:p>
                  </a:txBody>
                  <a:tcPr>
                    <a:solidFill>
                      <a:srgbClr val="FFFFFF"/>
                    </a:solidFill>
                  </a:tcPr>
                </a:tc>
                <a:tc>
                  <a:txBody>
                    <a:bodyPr lIns="76200" rIns="76200" tIns="50800" bIns="50800" wrap="square"/>
                    <a:lstStyle/>
                    <a:p>
                      <a:pPr algn="l"/>
                      <a:r>
                        <a:rPr sz="1100" b="0">
                          <a:solidFill>
                            <a:srgbClr val="4B4B57"/>
                          </a:solidFill>
                          <a:latin typeface="Calibri"/>
                        </a:rPr>
                        <a:t>No memory · no action · no India · no loan</a:t>
                      </a:r>
                    </a:p>
                  </a:txBody>
                  <a:tcPr>
                    <a:solidFill>
                      <a:srgbClr val="FFFFFF"/>
                    </a:solidFill>
                  </a:tcPr>
                </a:tc>
                <a:tc>
                  <a:txBody>
                    <a:bodyPr lIns="76200" rIns="76200" tIns="50800" bIns="50800" wrap="square"/>
                    <a:lstStyle/>
                    <a:p>
                      <a:pPr algn="l"/>
                      <a:r>
                        <a:rPr sz="1100" b="0">
                          <a:solidFill>
                            <a:srgbClr val="4B4B57"/>
                          </a:solidFill>
                          <a:latin typeface="Calibri"/>
                        </a:rPr>
                        <a:t>Memory · tools · Bharat · loan-native</a:t>
                      </a:r>
                    </a:p>
                  </a:txBody>
                  <a:tcPr>
                    <a:solidFill>
                      <a:srgbClr val="FFFFFF"/>
                    </a:solidFill>
                  </a:tcPr>
                </a:tc>
              </a:tr>
            </a:tbl>
          </a:graphicData>
        </a:graphic>
      </p:graphicFrame>
      <p:sp>
        <p:nvSpPr>
          <p:cNvPr id="9" name="TextBox 8"/>
          <p:cNvSpPr txBox="1"/>
          <p:nvPr/>
        </p:nvSpPr>
        <p:spPr>
          <a:xfrm>
            <a:off x="457200" y="5760720"/>
            <a:ext cx="11247120" cy="548640"/>
          </a:xfrm>
          <a:prstGeom prst="rect">
            <a:avLst/>
          </a:prstGeom>
          <a:noFill/>
        </p:spPr>
        <p:txBody>
          <a:bodyPr wrap="square" lIns="50800" rIns="50800" tIns="25400" bIns="25400" anchor="t">
            <a:spAutoFit/>
          </a:bodyPr>
          <a:lstStyle/>
          <a:p>
            <a:pPr algn="ctr"/>
            <a:r>
              <a:rPr sz="1500" b="1" i="1">
                <a:solidFill>
                  <a:srgbClr val="F2862F"/>
                </a:solidFill>
                <a:latin typeface="Calibri"/>
              </a:rPr>
              <a:t>Counselors charge too much. Loan NBFCs show up too late. Generic AI doesn't know India. SARTHI solves all three.</a:t>
            </a:r>
          </a:p>
        </p:txBody>
      </p:sp>
      <p:sp>
        <p:nvSpPr>
          <p:cNvPr id="10" name="Rectangle 9"/>
          <p:cNvSpPr/>
          <p:nvPr/>
        </p:nvSpPr>
        <p:spPr>
          <a:xfrm>
            <a:off x="0" y="6537960"/>
            <a:ext cx="12191695" cy="32004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565392"/>
            <a:ext cx="11247120" cy="274320"/>
          </a:xfrm>
          <a:prstGeom prst="rect">
            <a:avLst/>
          </a:prstGeom>
          <a:noFill/>
        </p:spPr>
        <p:txBody>
          <a:bodyPr wrap="square" lIns="50800" rIns="50800" tIns="25400" bIns="25400" anchor="t">
            <a:spAutoFit/>
          </a:bodyPr>
          <a:lstStyle/>
          <a:p>
            <a:pPr algn="l"/>
            <a:r>
              <a:rPr sz="1000" b="0" i="1">
                <a:solidFill>
                  <a:srgbClr val="FFFFFF"/>
                </a:solidFill>
                <a:latin typeface="Calibri"/>
              </a:rPr>
              <a:t>SARTHI  ·  Your AI Sarthi — from dream to degree.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09728" cy="502920"/>
          </a:xfrm>
          <a:prstGeom prst="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11480"/>
            <a:ext cx="10972800" cy="731520"/>
          </a:xfrm>
          <a:prstGeom prst="rect">
            <a:avLst/>
          </a:prstGeom>
          <a:noFill/>
        </p:spPr>
        <p:txBody>
          <a:bodyPr wrap="square" lIns="50800" rIns="50800" tIns="25400" bIns="25400" anchor="t">
            <a:spAutoFit/>
          </a:bodyPr>
          <a:lstStyle/>
          <a:p>
            <a:pPr algn="l"/>
            <a:r>
              <a:rPr sz="3200" b="1" i="0">
                <a:solidFill>
                  <a:srgbClr val="1E1B4B"/>
                </a:solidFill>
                <a:latin typeface="Calibri"/>
              </a:rPr>
              <a:t>Priya's journey. 7 features. One agent.</a:t>
            </a:r>
          </a:p>
        </p:txBody>
      </p:sp>
      <p:sp>
        <p:nvSpPr>
          <p:cNvPr id="5" name="Rectangle 4"/>
          <p:cNvSpPr/>
          <p:nvPr/>
        </p:nvSpPr>
        <p:spPr>
          <a:xfrm>
            <a:off x="457200" y="1143000"/>
            <a:ext cx="11247120" cy="12700"/>
          </a:xfrm>
          <a:prstGeom prst="rect">
            <a:avLst/>
          </a:prstGeom>
          <a:solidFill>
            <a:srgbClr val="E8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554480"/>
            <a:ext cx="2240280" cy="402336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737360"/>
            <a:ext cx="2240280" cy="640080"/>
          </a:xfrm>
          <a:prstGeom prst="rect">
            <a:avLst/>
          </a:prstGeom>
          <a:noFill/>
        </p:spPr>
        <p:txBody>
          <a:bodyPr wrap="square" lIns="50800" rIns="50800" tIns="25400" bIns="25400" anchor="t">
            <a:spAutoFit/>
          </a:bodyPr>
          <a:lstStyle/>
          <a:p>
            <a:pPr algn="ctr"/>
            <a:r>
              <a:rPr sz="3600" b="1" i="0">
                <a:solidFill>
                  <a:srgbClr val="F2862F"/>
                </a:solidFill>
                <a:latin typeface="Calibri"/>
              </a:rPr>
              <a:t>01</a:t>
            </a:r>
          </a:p>
        </p:txBody>
      </p:sp>
      <p:sp>
        <p:nvSpPr>
          <p:cNvPr id="8" name="TextBox 7"/>
          <p:cNvSpPr txBox="1"/>
          <p:nvPr/>
        </p:nvSpPr>
        <p:spPr>
          <a:xfrm>
            <a:off x="457200" y="2468880"/>
            <a:ext cx="2240280" cy="457200"/>
          </a:xfrm>
          <a:prstGeom prst="rect">
            <a:avLst/>
          </a:prstGeom>
          <a:noFill/>
        </p:spPr>
        <p:txBody>
          <a:bodyPr wrap="square" lIns="50800" rIns="50800" tIns="25400" bIns="25400" anchor="t">
            <a:spAutoFit/>
          </a:bodyPr>
          <a:lstStyle/>
          <a:p>
            <a:pPr algn="ctr"/>
            <a:r>
              <a:rPr sz="1400" b="1" i="0">
                <a:solidFill>
                  <a:srgbClr val="1E1B4B"/>
                </a:solidFill>
                <a:latin typeface="Calibri"/>
              </a:rPr>
              <a:t>DISCOVER</a:t>
            </a:r>
          </a:p>
        </p:txBody>
      </p:sp>
      <p:sp>
        <p:nvSpPr>
          <p:cNvPr id="9" name="TextBox 8"/>
          <p:cNvSpPr txBox="1"/>
          <p:nvPr/>
        </p:nvSpPr>
        <p:spPr>
          <a:xfrm>
            <a:off x="640080" y="3017520"/>
            <a:ext cx="1874520" cy="2011680"/>
          </a:xfrm>
          <a:prstGeom prst="rect">
            <a:avLst/>
          </a:prstGeom>
          <a:noFill/>
        </p:spPr>
        <p:txBody>
          <a:bodyPr wrap="square" lIns="50800" rIns="50800" tIns="25400" bIns="25400" anchor="t">
            <a:spAutoFit/>
          </a:bodyPr>
          <a:lstStyle/>
          <a:p>
            <a:pPr algn="l"/>
            <a:r>
              <a:rPr sz="1100" b="0" i="0">
                <a:solidFill>
                  <a:srgbClr val="4B4B57"/>
                </a:solidFill>
                <a:latin typeface="Calibri"/>
              </a:rPr>
              <a:t>IG reel → voice chat in Hinglish. Agent builds profile + personalized application timeline (IELTS → GRE → Apps → Visa).</a:t>
            </a:r>
          </a:p>
        </p:txBody>
      </p:sp>
      <p:sp>
        <p:nvSpPr>
          <p:cNvPr id="10" name="Rounded Rectangle 9"/>
          <p:cNvSpPr/>
          <p:nvPr/>
        </p:nvSpPr>
        <p:spPr>
          <a:xfrm>
            <a:off x="685800" y="4937760"/>
            <a:ext cx="1783080" cy="4114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965192"/>
            <a:ext cx="1783080" cy="365760"/>
          </a:xfrm>
          <a:prstGeom prst="rect">
            <a:avLst/>
          </a:prstGeom>
          <a:noFill/>
        </p:spPr>
        <p:txBody>
          <a:bodyPr wrap="square" lIns="50800" rIns="50800" tIns="25400" bIns="25400" anchor="t">
            <a:spAutoFit/>
          </a:bodyPr>
          <a:lstStyle/>
          <a:p>
            <a:pPr algn="ctr"/>
            <a:r>
              <a:rPr sz="1200" b="1" i="0">
                <a:solidFill>
                  <a:srgbClr val="1E1B4B"/>
                </a:solidFill>
                <a:latin typeface="Calibri"/>
              </a:rPr>
              <a:t>F1</a:t>
            </a:r>
          </a:p>
        </p:txBody>
      </p:sp>
      <p:sp>
        <p:nvSpPr>
          <p:cNvPr id="12" name="Rounded Rectangle 11"/>
          <p:cNvSpPr/>
          <p:nvPr/>
        </p:nvSpPr>
        <p:spPr>
          <a:xfrm>
            <a:off x="2770632" y="1554480"/>
            <a:ext cx="2240280" cy="402336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70632" y="1737360"/>
            <a:ext cx="2240280" cy="640080"/>
          </a:xfrm>
          <a:prstGeom prst="rect">
            <a:avLst/>
          </a:prstGeom>
          <a:noFill/>
        </p:spPr>
        <p:txBody>
          <a:bodyPr wrap="square" lIns="50800" rIns="50800" tIns="25400" bIns="25400" anchor="t">
            <a:spAutoFit/>
          </a:bodyPr>
          <a:lstStyle/>
          <a:p>
            <a:pPr algn="ctr"/>
            <a:r>
              <a:rPr sz="3600" b="1" i="0">
                <a:solidFill>
                  <a:srgbClr val="F2862F"/>
                </a:solidFill>
                <a:latin typeface="Calibri"/>
              </a:rPr>
              <a:t>02</a:t>
            </a:r>
          </a:p>
        </p:txBody>
      </p:sp>
      <p:sp>
        <p:nvSpPr>
          <p:cNvPr id="14" name="TextBox 13"/>
          <p:cNvSpPr txBox="1"/>
          <p:nvPr/>
        </p:nvSpPr>
        <p:spPr>
          <a:xfrm>
            <a:off x="2770632" y="2468880"/>
            <a:ext cx="2240280" cy="457200"/>
          </a:xfrm>
          <a:prstGeom prst="rect">
            <a:avLst/>
          </a:prstGeom>
          <a:noFill/>
        </p:spPr>
        <p:txBody>
          <a:bodyPr wrap="square" lIns="50800" rIns="50800" tIns="25400" bIns="25400" anchor="t">
            <a:spAutoFit/>
          </a:bodyPr>
          <a:lstStyle/>
          <a:p>
            <a:pPr algn="ctr"/>
            <a:r>
              <a:rPr sz="1400" b="1" i="0">
                <a:solidFill>
                  <a:srgbClr val="1E1B4B"/>
                </a:solidFill>
                <a:latin typeface="Calibri"/>
              </a:rPr>
              <a:t>DECIDE</a:t>
            </a:r>
          </a:p>
        </p:txBody>
      </p:sp>
      <p:sp>
        <p:nvSpPr>
          <p:cNvPr id="15" name="TextBox 14"/>
          <p:cNvSpPr txBox="1"/>
          <p:nvPr/>
        </p:nvSpPr>
        <p:spPr>
          <a:xfrm>
            <a:off x="2953512" y="3017520"/>
            <a:ext cx="1874520" cy="2011680"/>
          </a:xfrm>
          <a:prstGeom prst="rect">
            <a:avLst/>
          </a:prstGeom>
          <a:noFill/>
        </p:spPr>
        <p:txBody>
          <a:bodyPr wrap="square" lIns="50800" rIns="50800" tIns="25400" bIns="25400" anchor="t">
            <a:spAutoFit/>
          </a:bodyPr>
          <a:lstStyle/>
          <a:p>
            <a:pPr algn="l"/>
            <a:r>
              <a:rPr sz="1100" b="0" i="0">
                <a:solidFill>
                  <a:srgbClr val="4B4B57"/>
                </a:solidFill>
                <a:latin typeface="Calibri"/>
              </a:rPr>
              <a:t>Shortlist 10 universities · admission probability · per-uni ROI (cost vs salary vs EMI).</a:t>
            </a:r>
          </a:p>
        </p:txBody>
      </p:sp>
      <p:sp>
        <p:nvSpPr>
          <p:cNvPr id="16" name="Rounded Rectangle 15"/>
          <p:cNvSpPr/>
          <p:nvPr/>
        </p:nvSpPr>
        <p:spPr>
          <a:xfrm>
            <a:off x="2999232" y="4937760"/>
            <a:ext cx="1783080" cy="4114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99232" y="4965192"/>
            <a:ext cx="1783080" cy="365760"/>
          </a:xfrm>
          <a:prstGeom prst="rect">
            <a:avLst/>
          </a:prstGeom>
          <a:noFill/>
        </p:spPr>
        <p:txBody>
          <a:bodyPr wrap="square" lIns="50800" rIns="50800" tIns="25400" bIns="25400" anchor="t">
            <a:spAutoFit/>
          </a:bodyPr>
          <a:lstStyle/>
          <a:p>
            <a:pPr algn="ctr"/>
            <a:r>
              <a:rPr sz="1200" b="1" i="0">
                <a:solidFill>
                  <a:srgbClr val="1E1B4B"/>
                </a:solidFill>
                <a:latin typeface="Calibri"/>
              </a:rPr>
              <a:t>F2 + F3</a:t>
            </a:r>
          </a:p>
        </p:txBody>
      </p:sp>
      <p:sp>
        <p:nvSpPr>
          <p:cNvPr id="18" name="Rounded Rectangle 17"/>
          <p:cNvSpPr/>
          <p:nvPr/>
        </p:nvSpPr>
        <p:spPr>
          <a:xfrm>
            <a:off x="5084064" y="1554480"/>
            <a:ext cx="2240280" cy="402336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84064" y="1737360"/>
            <a:ext cx="2240280" cy="640080"/>
          </a:xfrm>
          <a:prstGeom prst="rect">
            <a:avLst/>
          </a:prstGeom>
          <a:noFill/>
        </p:spPr>
        <p:txBody>
          <a:bodyPr wrap="square" lIns="50800" rIns="50800" tIns="25400" bIns="25400" anchor="t">
            <a:spAutoFit/>
          </a:bodyPr>
          <a:lstStyle/>
          <a:p>
            <a:pPr algn="ctr"/>
            <a:r>
              <a:rPr sz="3600" b="1" i="0">
                <a:solidFill>
                  <a:srgbClr val="F2862F"/>
                </a:solidFill>
                <a:latin typeface="Calibri"/>
              </a:rPr>
              <a:t>03</a:t>
            </a:r>
          </a:p>
        </p:txBody>
      </p:sp>
      <p:sp>
        <p:nvSpPr>
          <p:cNvPr id="20" name="TextBox 19"/>
          <p:cNvSpPr txBox="1"/>
          <p:nvPr/>
        </p:nvSpPr>
        <p:spPr>
          <a:xfrm>
            <a:off x="5084064" y="2468880"/>
            <a:ext cx="2240280" cy="457200"/>
          </a:xfrm>
          <a:prstGeom prst="rect">
            <a:avLst/>
          </a:prstGeom>
          <a:noFill/>
        </p:spPr>
        <p:txBody>
          <a:bodyPr wrap="square" lIns="50800" rIns="50800" tIns="25400" bIns="25400" anchor="t">
            <a:spAutoFit/>
          </a:bodyPr>
          <a:lstStyle/>
          <a:p>
            <a:pPr algn="ctr"/>
            <a:r>
              <a:rPr sz="1400" b="1" i="0">
                <a:solidFill>
                  <a:srgbClr val="1E1B4B"/>
                </a:solidFill>
                <a:latin typeface="Calibri"/>
              </a:rPr>
              <a:t>APPLY</a:t>
            </a:r>
          </a:p>
        </p:txBody>
      </p:sp>
      <p:sp>
        <p:nvSpPr>
          <p:cNvPr id="21" name="TextBox 20"/>
          <p:cNvSpPr txBox="1"/>
          <p:nvPr/>
        </p:nvSpPr>
        <p:spPr>
          <a:xfrm>
            <a:off x="5266944" y="3017520"/>
            <a:ext cx="1874520" cy="2011680"/>
          </a:xfrm>
          <a:prstGeom prst="rect">
            <a:avLst/>
          </a:prstGeom>
          <a:noFill/>
        </p:spPr>
        <p:txBody>
          <a:bodyPr wrap="square" lIns="50800" rIns="50800" tIns="25400" bIns="25400" anchor="t">
            <a:spAutoFit/>
          </a:bodyPr>
          <a:lstStyle/>
          <a:p>
            <a:pPr algn="l"/>
            <a:r>
              <a:rPr sz="1100" b="0" i="0">
                <a:solidFill>
                  <a:srgbClr val="4B4B57"/>
                </a:solidFill>
                <a:latin typeface="Calibri"/>
              </a:rPr>
              <a:t>Socratic SOP Co-Pilot references her actual Bajaj internship — because it remembers.</a:t>
            </a:r>
          </a:p>
        </p:txBody>
      </p:sp>
      <p:sp>
        <p:nvSpPr>
          <p:cNvPr id="22" name="Rounded Rectangle 21"/>
          <p:cNvSpPr/>
          <p:nvPr/>
        </p:nvSpPr>
        <p:spPr>
          <a:xfrm>
            <a:off x="5312664" y="4937760"/>
            <a:ext cx="1783080" cy="4114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12664" y="4965192"/>
            <a:ext cx="1783080" cy="365760"/>
          </a:xfrm>
          <a:prstGeom prst="rect">
            <a:avLst/>
          </a:prstGeom>
          <a:noFill/>
        </p:spPr>
        <p:txBody>
          <a:bodyPr wrap="square" lIns="50800" rIns="50800" tIns="25400" bIns="25400" anchor="t">
            <a:spAutoFit/>
          </a:bodyPr>
          <a:lstStyle/>
          <a:p>
            <a:pPr algn="ctr"/>
            <a:r>
              <a:rPr sz="1200" b="1" i="0">
                <a:solidFill>
                  <a:srgbClr val="1E1B4B"/>
                </a:solidFill>
                <a:latin typeface="Calibri"/>
              </a:rPr>
              <a:t>F4</a:t>
            </a:r>
          </a:p>
        </p:txBody>
      </p:sp>
      <p:sp>
        <p:nvSpPr>
          <p:cNvPr id="24" name="Rounded Rectangle 23"/>
          <p:cNvSpPr/>
          <p:nvPr/>
        </p:nvSpPr>
        <p:spPr>
          <a:xfrm>
            <a:off x="7397496" y="1554480"/>
            <a:ext cx="2240280" cy="402336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97496" y="1737360"/>
            <a:ext cx="2240280" cy="640080"/>
          </a:xfrm>
          <a:prstGeom prst="rect">
            <a:avLst/>
          </a:prstGeom>
          <a:noFill/>
        </p:spPr>
        <p:txBody>
          <a:bodyPr wrap="square" lIns="50800" rIns="50800" tIns="25400" bIns="25400" anchor="t">
            <a:spAutoFit/>
          </a:bodyPr>
          <a:lstStyle/>
          <a:p>
            <a:pPr algn="ctr"/>
            <a:r>
              <a:rPr sz="3600" b="1" i="0">
                <a:solidFill>
                  <a:srgbClr val="F2862F"/>
                </a:solidFill>
                <a:latin typeface="Calibri"/>
              </a:rPr>
              <a:t>04</a:t>
            </a:r>
          </a:p>
        </p:txBody>
      </p:sp>
      <p:sp>
        <p:nvSpPr>
          <p:cNvPr id="26" name="TextBox 25"/>
          <p:cNvSpPr txBox="1"/>
          <p:nvPr/>
        </p:nvSpPr>
        <p:spPr>
          <a:xfrm>
            <a:off x="7397496" y="2468880"/>
            <a:ext cx="2240280" cy="457200"/>
          </a:xfrm>
          <a:prstGeom prst="rect">
            <a:avLst/>
          </a:prstGeom>
          <a:noFill/>
        </p:spPr>
        <p:txBody>
          <a:bodyPr wrap="square" lIns="50800" rIns="50800" tIns="25400" bIns="25400" anchor="t">
            <a:spAutoFit/>
          </a:bodyPr>
          <a:lstStyle/>
          <a:p>
            <a:pPr algn="ctr"/>
            <a:r>
              <a:rPr sz="1400" b="1" i="0">
                <a:solidFill>
                  <a:srgbClr val="1E1B4B"/>
                </a:solidFill>
                <a:latin typeface="Calibri"/>
              </a:rPr>
              <a:t>FUND</a:t>
            </a:r>
          </a:p>
        </p:txBody>
      </p:sp>
      <p:sp>
        <p:nvSpPr>
          <p:cNvPr id="27" name="TextBox 26"/>
          <p:cNvSpPr txBox="1"/>
          <p:nvPr/>
        </p:nvSpPr>
        <p:spPr>
          <a:xfrm>
            <a:off x="7580376" y="3017520"/>
            <a:ext cx="1874520" cy="2011680"/>
          </a:xfrm>
          <a:prstGeom prst="rect">
            <a:avLst/>
          </a:prstGeom>
          <a:noFill/>
        </p:spPr>
        <p:txBody>
          <a:bodyPr wrap="square" lIns="50800" rIns="50800" tIns="25400" bIns="25400" anchor="t">
            <a:spAutoFit/>
          </a:bodyPr>
          <a:lstStyle/>
          <a:p>
            <a:pPr algn="l"/>
            <a:r>
              <a:rPr sz="1100" b="0" i="0">
                <a:solidFill>
                  <a:srgbClr val="4B4B57"/>
                </a:solidFill>
                <a:latin typeface="Calibri"/>
              </a:rPr>
              <a:t>"You qualify for ₹45L at 10.2%." Auto-fills 90% of the loan app from past conversations.</a:t>
            </a:r>
          </a:p>
        </p:txBody>
      </p:sp>
      <p:sp>
        <p:nvSpPr>
          <p:cNvPr id="28" name="Rounded Rectangle 27"/>
          <p:cNvSpPr/>
          <p:nvPr/>
        </p:nvSpPr>
        <p:spPr>
          <a:xfrm>
            <a:off x="7626096" y="4937760"/>
            <a:ext cx="1783080" cy="4114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26096" y="4965192"/>
            <a:ext cx="1783080" cy="365760"/>
          </a:xfrm>
          <a:prstGeom prst="rect">
            <a:avLst/>
          </a:prstGeom>
          <a:noFill/>
        </p:spPr>
        <p:txBody>
          <a:bodyPr wrap="square" lIns="50800" rIns="50800" tIns="25400" bIns="25400" anchor="t">
            <a:spAutoFit/>
          </a:bodyPr>
          <a:lstStyle/>
          <a:p>
            <a:pPr algn="ctr"/>
            <a:r>
              <a:rPr sz="1200" b="1" i="0">
                <a:solidFill>
                  <a:srgbClr val="1E1B4B"/>
                </a:solidFill>
                <a:latin typeface="Calibri"/>
              </a:rPr>
              <a:t>F5 + F6</a:t>
            </a:r>
          </a:p>
        </p:txBody>
      </p:sp>
      <p:sp>
        <p:nvSpPr>
          <p:cNvPr id="30" name="Rounded Rectangle 29"/>
          <p:cNvSpPr/>
          <p:nvPr/>
        </p:nvSpPr>
        <p:spPr>
          <a:xfrm>
            <a:off x="9710928" y="1554480"/>
            <a:ext cx="2240280" cy="4023360"/>
          </a:xfrm>
          <a:prstGeom prst="roundRect">
            <a:avLst/>
          </a:prstGeom>
          <a:solidFill>
            <a:srgbClr val="1E1B4B"/>
          </a:solidFill>
          <a:ln w="9525">
            <a:solidFill>
              <a:srgbClr val="1E1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10928" y="1737360"/>
            <a:ext cx="2240280" cy="640080"/>
          </a:xfrm>
          <a:prstGeom prst="rect">
            <a:avLst/>
          </a:prstGeom>
          <a:noFill/>
        </p:spPr>
        <p:txBody>
          <a:bodyPr wrap="square" lIns="50800" rIns="50800" tIns="25400" bIns="25400" anchor="t">
            <a:spAutoFit/>
          </a:bodyPr>
          <a:lstStyle/>
          <a:p>
            <a:pPr algn="ctr"/>
            <a:r>
              <a:rPr sz="3600" b="1" i="0">
                <a:solidFill>
                  <a:srgbClr val="F2862F"/>
                </a:solidFill>
                <a:latin typeface="Calibri"/>
              </a:rPr>
              <a:t>↻</a:t>
            </a:r>
          </a:p>
        </p:txBody>
      </p:sp>
      <p:sp>
        <p:nvSpPr>
          <p:cNvPr id="32" name="TextBox 31"/>
          <p:cNvSpPr txBox="1"/>
          <p:nvPr/>
        </p:nvSpPr>
        <p:spPr>
          <a:xfrm>
            <a:off x="9710928" y="2468880"/>
            <a:ext cx="2240280" cy="457200"/>
          </a:xfrm>
          <a:prstGeom prst="rect">
            <a:avLst/>
          </a:prstGeom>
          <a:noFill/>
        </p:spPr>
        <p:txBody>
          <a:bodyPr wrap="square" lIns="50800" rIns="50800" tIns="25400" bIns="25400" anchor="t">
            <a:spAutoFit/>
          </a:bodyPr>
          <a:lstStyle/>
          <a:p>
            <a:pPr algn="ctr"/>
            <a:r>
              <a:rPr sz="1400" b="1" i="0">
                <a:solidFill>
                  <a:srgbClr val="FFFFFF"/>
                </a:solidFill>
                <a:latin typeface="Calibri"/>
              </a:rPr>
              <a:t>AMPLIFY</a:t>
            </a:r>
          </a:p>
        </p:txBody>
      </p:sp>
      <p:sp>
        <p:nvSpPr>
          <p:cNvPr id="33" name="TextBox 32"/>
          <p:cNvSpPr txBox="1"/>
          <p:nvPr/>
        </p:nvSpPr>
        <p:spPr>
          <a:xfrm>
            <a:off x="9893808" y="3017520"/>
            <a:ext cx="1874520" cy="2011680"/>
          </a:xfrm>
          <a:prstGeom prst="rect">
            <a:avLst/>
          </a:prstGeom>
          <a:noFill/>
        </p:spPr>
        <p:txBody>
          <a:bodyPr wrap="square" lIns="50800" rIns="50800" tIns="25400" bIns="25400" anchor="t">
            <a:spAutoFit/>
          </a:bodyPr>
          <a:lstStyle/>
          <a:p>
            <a:pPr algn="l"/>
            <a:r>
              <a:rPr sz="1100" b="0" i="0">
                <a:solidFill>
                  <a:srgbClr val="E8E8EF"/>
                </a:solidFill>
                <a:latin typeface="Calibri"/>
              </a:rPr>
              <a:t>Shareable "Study Abroad Passport" → 3 friends join → loop closes.</a:t>
            </a:r>
          </a:p>
        </p:txBody>
      </p:sp>
      <p:sp>
        <p:nvSpPr>
          <p:cNvPr id="34" name="Rounded Rectangle 33"/>
          <p:cNvSpPr/>
          <p:nvPr/>
        </p:nvSpPr>
        <p:spPr>
          <a:xfrm>
            <a:off x="9939528" y="4937760"/>
            <a:ext cx="1783080" cy="4114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39528" y="4965192"/>
            <a:ext cx="1783080" cy="365760"/>
          </a:xfrm>
          <a:prstGeom prst="rect">
            <a:avLst/>
          </a:prstGeom>
          <a:noFill/>
        </p:spPr>
        <p:txBody>
          <a:bodyPr wrap="square" lIns="50800" rIns="50800" tIns="25400" bIns="25400" anchor="t">
            <a:spAutoFit/>
          </a:bodyPr>
          <a:lstStyle/>
          <a:p>
            <a:pPr algn="ctr"/>
            <a:r>
              <a:rPr sz="1200" b="1" i="0">
                <a:solidFill>
                  <a:srgbClr val="1E1B4B"/>
                </a:solidFill>
                <a:latin typeface="Calibri"/>
              </a:rPr>
              <a:t>F7</a:t>
            </a:r>
          </a:p>
        </p:txBody>
      </p:sp>
      <p:sp>
        <p:nvSpPr>
          <p:cNvPr id="36" name="Rounded Rectangle 35"/>
          <p:cNvSpPr/>
          <p:nvPr/>
        </p:nvSpPr>
        <p:spPr>
          <a:xfrm>
            <a:off x="457200" y="5760720"/>
            <a:ext cx="11247120" cy="5943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5788152"/>
            <a:ext cx="11247120" cy="548640"/>
          </a:xfrm>
          <a:prstGeom prst="rect">
            <a:avLst/>
          </a:prstGeom>
          <a:noFill/>
        </p:spPr>
        <p:txBody>
          <a:bodyPr wrap="square" lIns="50800" rIns="50800" tIns="25400" bIns="25400" anchor="t">
            <a:spAutoFit/>
          </a:bodyPr>
          <a:lstStyle/>
          <a:p>
            <a:pPr algn="ctr"/>
            <a:r>
              <a:rPr sz="1700" b="1" i="1">
                <a:solidFill>
                  <a:srgbClr val="F2862F"/>
                </a:solidFill>
                <a:latin typeface="Calibri"/>
              </a:rPr>
              <a:t>4 phases · One agent · Zero human intervention · One ₹45L loan disbursed.</a:t>
            </a:r>
          </a:p>
        </p:txBody>
      </p:sp>
      <p:sp>
        <p:nvSpPr>
          <p:cNvPr id="38" name="Rectangle 37"/>
          <p:cNvSpPr/>
          <p:nvPr/>
        </p:nvSpPr>
        <p:spPr>
          <a:xfrm>
            <a:off x="0" y="6537960"/>
            <a:ext cx="12191695" cy="32004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565392"/>
            <a:ext cx="11247120" cy="274320"/>
          </a:xfrm>
          <a:prstGeom prst="rect">
            <a:avLst/>
          </a:prstGeom>
          <a:noFill/>
        </p:spPr>
        <p:txBody>
          <a:bodyPr wrap="square" lIns="50800" rIns="50800" tIns="25400" bIns="25400" anchor="t">
            <a:spAutoFit/>
          </a:bodyPr>
          <a:lstStyle/>
          <a:p>
            <a:pPr algn="l"/>
            <a:r>
              <a:rPr sz="1000" b="0" i="1">
                <a:solidFill>
                  <a:srgbClr val="FFFFFF"/>
                </a:solidFill>
                <a:latin typeface="Calibri"/>
              </a:rPr>
              <a:t>SARTHI  ·  Your AI Sarthi — from dream to degree.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09728" cy="502920"/>
          </a:xfrm>
          <a:prstGeom prst="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11480"/>
            <a:ext cx="10972800" cy="731520"/>
          </a:xfrm>
          <a:prstGeom prst="rect">
            <a:avLst/>
          </a:prstGeom>
          <a:noFill/>
        </p:spPr>
        <p:txBody>
          <a:bodyPr wrap="square" lIns="50800" rIns="50800" tIns="25400" bIns="25400" anchor="t">
            <a:spAutoFit/>
          </a:bodyPr>
          <a:lstStyle/>
          <a:p>
            <a:pPr algn="l"/>
            <a:r>
              <a:rPr sz="3200" b="1" i="0">
                <a:solidFill>
                  <a:srgbClr val="1E1B4B"/>
                </a:solidFill>
                <a:latin typeface="Calibri"/>
              </a:rPr>
              <a:t>AI architecture — agent, not chatbot.</a:t>
            </a:r>
          </a:p>
        </p:txBody>
      </p:sp>
      <p:sp>
        <p:nvSpPr>
          <p:cNvPr id="5" name="Rectangle 4"/>
          <p:cNvSpPr/>
          <p:nvPr/>
        </p:nvSpPr>
        <p:spPr>
          <a:xfrm>
            <a:off x="457200" y="1143000"/>
            <a:ext cx="11247120" cy="12700"/>
          </a:xfrm>
          <a:prstGeom prst="rect">
            <a:avLst/>
          </a:prstGeom>
          <a:solidFill>
            <a:srgbClr val="E8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417320"/>
            <a:ext cx="7680960" cy="777240"/>
          </a:xfrm>
          <a:prstGeom prst="roundRect">
            <a:avLst/>
          </a:prstGeom>
          <a:solidFill>
            <a:srgbClr val="3B3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08760"/>
            <a:ext cx="7680960" cy="365760"/>
          </a:xfrm>
          <a:prstGeom prst="rect">
            <a:avLst/>
          </a:prstGeom>
          <a:noFill/>
        </p:spPr>
        <p:txBody>
          <a:bodyPr wrap="square" lIns="50800" rIns="50800" tIns="25400" bIns="25400" anchor="t">
            <a:spAutoFit/>
          </a:bodyPr>
          <a:lstStyle/>
          <a:p>
            <a:pPr algn="l"/>
            <a:r>
              <a:rPr sz="1400" b="1" i="0">
                <a:solidFill>
                  <a:srgbClr val="F2862F"/>
                </a:solidFill>
                <a:latin typeface="Calibri"/>
              </a:rPr>
              <a:t>Frontend</a:t>
            </a:r>
          </a:p>
        </p:txBody>
      </p:sp>
      <p:sp>
        <p:nvSpPr>
          <p:cNvPr id="8" name="TextBox 7"/>
          <p:cNvSpPr txBox="1"/>
          <p:nvPr/>
        </p:nvSpPr>
        <p:spPr>
          <a:xfrm>
            <a:off x="685800" y="1801368"/>
            <a:ext cx="7406640" cy="365760"/>
          </a:xfrm>
          <a:prstGeom prst="rect">
            <a:avLst/>
          </a:prstGeom>
          <a:noFill/>
        </p:spPr>
        <p:txBody>
          <a:bodyPr wrap="square" lIns="50800" rIns="50800" tIns="25400" bIns="25400" anchor="t">
            <a:spAutoFit/>
          </a:bodyPr>
          <a:lstStyle/>
          <a:p>
            <a:pPr algn="l"/>
            <a:r>
              <a:rPr sz="1100" b="0" i="0">
                <a:solidFill>
                  <a:srgbClr val="FFFFFF"/>
                </a:solidFill>
                <a:latin typeface="Calibri"/>
              </a:rPr>
              <a:t>Next.js · shadcn/ui · Tailwind · PWA</a:t>
            </a:r>
          </a:p>
        </p:txBody>
      </p:sp>
      <p:sp>
        <p:nvSpPr>
          <p:cNvPr id="9" name="Rounded Rectangle 8"/>
          <p:cNvSpPr/>
          <p:nvPr/>
        </p:nvSpPr>
        <p:spPr>
          <a:xfrm>
            <a:off x="457200" y="2267712"/>
            <a:ext cx="7680960" cy="77724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59152"/>
            <a:ext cx="7680960" cy="365760"/>
          </a:xfrm>
          <a:prstGeom prst="rect">
            <a:avLst/>
          </a:prstGeom>
          <a:noFill/>
        </p:spPr>
        <p:txBody>
          <a:bodyPr wrap="square" lIns="50800" rIns="50800" tIns="25400" bIns="25400" anchor="t">
            <a:spAutoFit/>
          </a:bodyPr>
          <a:lstStyle/>
          <a:p>
            <a:pPr algn="l"/>
            <a:r>
              <a:rPr sz="1400" b="1" i="0">
                <a:solidFill>
                  <a:srgbClr val="F2862F"/>
                </a:solidFill>
                <a:latin typeface="Calibri"/>
              </a:rPr>
              <a:t>Agent Orchestrator</a:t>
            </a:r>
          </a:p>
        </p:txBody>
      </p:sp>
      <p:sp>
        <p:nvSpPr>
          <p:cNvPr id="11" name="TextBox 10"/>
          <p:cNvSpPr txBox="1"/>
          <p:nvPr/>
        </p:nvSpPr>
        <p:spPr>
          <a:xfrm>
            <a:off x="685800" y="2651760"/>
            <a:ext cx="7406640" cy="365760"/>
          </a:xfrm>
          <a:prstGeom prst="rect">
            <a:avLst/>
          </a:prstGeom>
          <a:noFill/>
        </p:spPr>
        <p:txBody>
          <a:bodyPr wrap="square" lIns="50800" rIns="50800" tIns="25400" bIns="25400" anchor="t">
            <a:spAutoFit/>
          </a:bodyPr>
          <a:lstStyle/>
          <a:p>
            <a:pPr algn="l"/>
            <a:r>
              <a:rPr sz="1100" b="0" i="0">
                <a:solidFill>
                  <a:srgbClr val="FFFFFF"/>
                </a:solidFill>
                <a:latin typeface="Calibri"/>
              </a:rPr>
              <a:t>LLM-agnostic · long-term memory · tool-calling · multi-model fallback</a:t>
            </a:r>
          </a:p>
        </p:txBody>
      </p:sp>
      <p:sp>
        <p:nvSpPr>
          <p:cNvPr id="12" name="Rounded Rectangle 11"/>
          <p:cNvSpPr/>
          <p:nvPr/>
        </p:nvSpPr>
        <p:spPr>
          <a:xfrm>
            <a:off x="457200" y="3118104"/>
            <a:ext cx="1477670" cy="8686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27832"/>
            <a:ext cx="1477670" cy="868680"/>
          </a:xfrm>
          <a:prstGeom prst="rect">
            <a:avLst/>
          </a:prstGeom>
          <a:noFill/>
        </p:spPr>
        <p:txBody>
          <a:bodyPr wrap="square" lIns="50800" rIns="50800" tIns="25400" bIns="25400" anchor="t">
            <a:spAutoFit/>
          </a:bodyPr>
          <a:lstStyle/>
          <a:p>
            <a:pPr algn="ctr"/>
            <a:r>
              <a:rPr sz="1100" b="1" i="0">
                <a:solidFill>
                  <a:srgbClr val="1E1B4B"/>
                </a:solidFill>
                <a:latin typeface="Calibri"/>
              </a:rPr>
              <a:t>University</a:t>
            </a:r>
          </a:p>
          <a:p>
            <a:pPr algn="ctr"/>
            <a:r>
              <a:rPr sz="1100" b="1" i="0">
                <a:solidFill>
                  <a:srgbClr val="1E1B4B"/>
                </a:solidFill>
                <a:latin typeface="Calibri"/>
              </a:rPr>
              <a:t>Shortlister</a:t>
            </a:r>
          </a:p>
        </p:txBody>
      </p:sp>
      <p:sp>
        <p:nvSpPr>
          <p:cNvPr id="14" name="Rounded Rectangle 13"/>
          <p:cNvSpPr/>
          <p:nvPr/>
        </p:nvSpPr>
        <p:spPr>
          <a:xfrm>
            <a:off x="2008022" y="3118104"/>
            <a:ext cx="1477670" cy="8686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08022" y="3227832"/>
            <a:ext cx="1477670" cy="868680"/>
          </a:xfrm>
          <a:prstGeom prst="rect">
            <a:avLst/>
          </a:prstGeom>
          <a:noFill/>
        </p:spPr>
        <p:txBody>
          <a:bodyPr wrap="square" lIns="50800" rIns="50800" tIns="25400" bIns="25400" anchor="t">
            <a:spAutoFit/>
          </a:bodyPr>
          <a:lstStyle/>
          <a:p>
            <a:pPr algn="ctr"/>
            <a:r>
              <a:rPr sz="1100" b="1" i="0">
                <a:solidFill>
                  <a:srgbClr val="1E1B4B"/>
                </a:solidFill>
                <a:latin typeface="Calibri"/>
              </a:rPr>
              <a:t>ROI</a:t>
            </a:r>
          </a:p>
          <a:p>
            <a:pPr algn="ctr"/>
            <a:r>
              <a:rPr sz="1100" b="1" i="0">
                <a:solidFill>
                  <a:srgbClr val="1E1B4B"/>
                </a:solidFill>
                <a:latin typeface="Calibri"/>
              </a:rPr>
              <a:t>Predictor</a:t>
            </a:r>
          </a:p>
        </p:txBody>
      </p:sp>
      <p:sp>
        <p:nvSpPr>
          <p:cNvPr id="16" name="Rounded Rectangle 15"/>
          <p:cNvSpPr/>
          <p:nvPr/>
        </p:nvSpPr>
        <p:spPr>
          <a:xfrm>
            <a:off x="3558844" y="3118104"/>
            <a:ext cx="1477670" cy="8686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8844" y="3227832"/>
            <a:ext cx="1477670" cy="868680"/>
          </a:xfrm>
          <a:prstGeom prst="rect">
            <a:avLst/>
          </a:prstGeom>
          <a:noFill/>
        </p:spPr>
        <p:txBody>
          <a:bodyPr wrap="square" lIns="50800" rIns="50800" tIns="25400" bIns="25400" anchor="t">
            <a:spAutoFit/>
          </a:bodyPr>
          <a:lstStyle/>
          <a:p>
            <a:pPr algn="ctr"/>
            <a:r>
              <a:rPr sz="1100" b="1" i="0">
                <a:solidFill>
                  <a:srgbClr val="1E1B4B"/>
                </a:solidFill>
                <a:latin typeface="Calibri"/>
              </a:rPr>
              <a:t>SOP</a:t>
            </a:r>
          </a:p>
          <a:p>
            <a:pPr algn="ctr"/>
            <a:r>
              <a:rPr sz="1100" b="1" i="0">
                <a:solidFill>
                  <a:srgbClr val="1E1B4B"/>
                </a:solidFill>
                <a:latin typeface="Calibri"/>
              </a:rPr>
              <a:t>Co-Pilot</a:t>
            </a:r>
          </a:p>
        </p:txBody>
      </p:sp>
      <p:sp>
        <p:nvSpPr>
          <p:cNvPr id="18" name="Rounded Rectangle 17"/>
          <p:cNvSpPr/>
          <p:nvPr/>
        </p:nvSpPr>
        <p:spPr>
          <a:xfrm>
            <a:off x="5109667" y="3118104"/>
            <a:ext cx="1477670" cy="8686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09667" y="3227832"/>
            <a:ext cx="1477670" cy="868680"/>
          </a:xfrm>
          <a:prstGeom prst="rect">
            <a:avLst/>
          </a:prstGeom>
          <a:noFill/>
        </p:spPr>
        <p:txBody>
          <a:bodyPr wrap="square" lIns="50800" rIns="50800" tIns="25400" bIns="25400" anchor="t">
            <a:spAutoFit/>
          </a:bodyPr>
          <a:lstStyle/>
          <a:p>
            <a:pPr algn="ctr"/>
            <a:r>
              <a:rPr sz="1100" b="1" i="0">
                <a:solidFill>
                  <a:srgbClr val="1E1B4B"/>
                </a:solidFill>
                <a:latin typeface="Calibri"/>
              </a:rPr>
              <a:t>Loan Offer</a:t>
            </a:r>
          </a:p>
          <a:p>
            <a:pPr algn="ctr"/>
            <a:r>
              <a:rPr sz="1100" b="1" i="0">
                <a:solidFill>
                  <a:srgbClr val="1E1B4B"/>
                </a:solidFill>
                <a:latin typeface="Calibri"/>
              </a:rPr>
              <a:t>+ Eligibility</a:t>
            </a:r>
          </a:p>
        </p:txBody>
      </p:sp>
      <p:sp>
        <p:nvSpPr>
          <p:cNvPr id="20" name="Rounded Rectangle 19"/>
          <p:cNvSpPr/>
          <p:nvPr/>
        </p:nvSpPr>
        <p:spPr>
          <a:xfrm>
            <a:off x="6660489" y="3118104"/>
            <a:ext cx="1477670" cy="8686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60489" y="3227832"/>
            <a:ext cx="1477670" cy="868680"/>
          </a:xfrm>
          <a:prstGeom prst="rect">
            <a:avLst/>
          </a:prstGeom>
          <a:noFill/>
        </p:spPr>
        <p:txBody>
          <a:bodyPr wrap="square" lIns="50800" rIns="50800" tIns="25400" bIns="25400" anchor="t">
            <a:spAutoFit/>
          </a:bodyPr>
          <a:lstStyle/>
          <a:p>
            <a:pPr algn="ctr"/>
            <a:r>
              <a:rPr sz="1100" b="1" i="0">
                <a:solidFill>
                  <a:srgbClr val="1E1B4B"/>
                </a:solidFill>
                <a:latin typeface="Calibri"/>
              </a:rPr>
              <a:t>Passport</a:t>
            </a:r>
          </a:p>
          <a:p>
            <a:pPr algn="ctr"/>
            <a:r>
              <a:rPr sz="1100" b="1" i="0">
                <a:solidFill>
                  <a:srgbClr val="1E1B4B"/>
                </a:solidFill>
                <a:latin typeface="Calibri"/>
              </a:rPr>
              <a:t>Generator</a:t>
            </a:r>
          </a:p>
        </p:txBody>
      </p:sp>
      <p:sp>
        <p:nvSpPr>
          <p:cNvPr id="22" name="Rounded Rectangle 21"/>
          <p:cNvSpPr/>
          <p:nvPr/>
        </p:nvSpPr>
        <p:spPr>
          <a:xfrm>
            <a:off x="457200" y="4059936"/>
            <a:ext cx="7680960" cy="777240"/>
          </a:xfrm>
          <a:prstGeom prst="roundRect">
            <a:avLst/>
          </a:prstGeom>
          <a:solidFill>
            <a:srgbClr val="3B3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151376"/>
            <a:ext cx="7680960" cy="365760"/>
          </a:xfrm>
          <a:prstGeom prst="rect">
            <a:avLst/>
          </a:prstGeom>
          <a:noFill/>
        </p:spPr>
        <p:txBody>
          <a:bodyPr wrap="square" lIns="50800" rIns="50800" tIns="25400" bIns="25400" anchor="t">
            <a:spAutoFit/>
          </a:bodyPr>
          <a:lstStyle/>
          <a:p>
            <a:pPr algn="l"/>
            <a:r>
              <a:rPr sz="1400" b="1" i="0">
                <a:solidFill>
                  <a:srgbClr val="F2862F"/>
                </a:solidFill>
                <a:latin typeface="Calibri"/>
              </a:rPr>
              <a:t>Data &amp; Integration Layer</a:t>
            </a:r>
          </a:p>
        </p:txBody>
      </p:sp>
      <p:sp>
        <p:nvSpPr>
          <p:cNvPr id="24" name="TextBox 23"/>
          <p:cNvSpPr txBox="1"/>
          <p:nvPr/>
        </p:nvSpPr>
        <p:spPr>
          <a:xfrm>
            <a:off x="685800" y="4443984"/>
            <a:ext cx="7406640" cy="365760"/>
          </a:xfrm>
          <a:prstGeom prst="rect">
            <a:avLst/>
          </a:prstGeom>
          <a:noFill/>
        </p:spPr>
        <p:txBody>
          <a:bodyPr wrap="square" lIns="50800" rIns="50800" tIns="25400" bIns="25400" anchor="t">
            <a:spAutoFit/>
          </a:bodyPr>
          <a:lstStyle/>
          <a:p>
            <a:pPr algn="l"/>
            <a:r>
              <a:rPr sz="1100" b="0" i="0">
                <a:solidFill>
                  <a:srgbClr val="FFFFFF"/>
                </a:solidFill>
                <a:latin typeface="Calibri"/>
              </a:rPr>
              <a:t>Vector DB · Postgres · Whisper + Bhashini · Poonawalla Loan API</a:t>
            </a:r>
          </a:p>
        </p:txBody>
      </p:sp>
      <p:sp>
        <p:nvSpPr>
          <p:cNvPr id="25" name="TextBox 24"/>
          <p:cNvSpPr txBox="1"/>
          <p:nvPr/>
        </p:nvSpPr>
        <p:spPr>
          <a:xfrm>
            <a:off x="8412480" y="1417320"/>
            <a:ext cx="3474720" cy="365760"/>
          </a:xfrm>
          <a:prstGeom prst="rect">
            <a:avLst/>
          </a:prstGeom>
          <a:noFill/>
        </p:spPr>
        <p:txBody>
          <a:bodyPr wrap="square" lIns="50800" rIns="50800" tIns="25400" bIns="25400" anchor="t">
            <a:spAutoFit/>
          </a:bodyPr>
          <a:lstStyle/>
          <a:p>
            <a:pPr algn="l"/>
            <a:r>
              <a:rPr sz="1300" b="1" i="0">
                <a:solidFill>
                  <a:srgbClr val="1E1B4B"/>
                </a:solidFill>
                <a:latin typeface="Calibri"/>
              </a:rPr>
              <a:t>Chatbot  vs.  SARTHI Agent</a:t>
            </a:r>
          </a:p>
        </p:txBody>
      </p:sp>
      <p:sp>
        <p:nvSpPr>
          <p:cNvPr id="26" name="Rounded Rectangle 25"/>
          <p:cNvSpPr/>
          <p:nvPr/>
        </p:nvSpPr>
        <p:spPr>
          <a:xfrm>
            <a:off x="8412480" y="1874519"/>
            <a:ext cx="1691640" cy="502920"/>
          </a:xfrm>
          <a:prstGeom prst="roundRect">
            <a:avLst/>
          </a:prstGeom>
          <a:solidFill>
            <a:srgbClr val="E8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0" y="1947671"/>
            <a:ext cx="1508760" cy="411480"/>
          </a:xfrm>
          <a:prstGeom prst="rect">
            <a:avLst/>
          </a:prstGeom>
          <a:noFill/>
        </p:spPr>
        <p:txBody>
          <a:bodyPr wrap="square" lIns="50800" rIns="50800" tIns="25400" bIns="25400" anchor="t">
            <a:spAutoFit/>
          </a:bodyPr>
          <a:lstStyle/>
          <a:p>
            <a:pPr algn="ctr"/>
            <a:r>
              <a:rPr sz="1100" b="0" i="0">
                <a:solidFill>
                  <a:srgbClr val="4B4B57"/>
                </a:solidFill>
                <a:latin typeface="Calibri"/>
              </a:rPr>
              <a:t>Stateless</a:t>
            </a:r>
          </a:p>
        </p:txBody>
      </p:sp>
      <p:sp>
        <p:nvSpPr>
          <p:cNvPr id="28" name="Rounded Rectangle 27"/>
          <p:cNvSpPr/>
          <p:nvPr/>
        </p:nvSpPr>
        <p:spPr>
          <a:xfrm>
            <a:off x="10195560" y="1874519"/>
            <a:ext cx="1691640" cy="50292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86999" y="1947671"/>
            <a:ext cx="1508760" cy="411480"/>
          </a:xfrm>
          <a:prstGeom prst="rect">
            <a:avLst/>
          </a:prstGeom>
          <a:noFill/>
        </p:spPr>
        <p:txBody>
          <a:bodyPr wrap="square" lIns="50800" rIns="50800" tIns="25400" bIns="25400" anchor="t">
            <a:spAutoFit/>
          </a:bodyPr>
          <a:lstStyle/>
          <a:p>
            <a:pPr algn="ctr"/>
            <a:r>
              <a:rPr sz="1100" b="1" i="0">
                <a:solidFill>
                  <a:srgbClr val="F2862F"/>
                </a:solidFill>
                <a:latin typeface="Calibri"/>
              </a:rPr>
              <a:t>Memory per user</a:t>
            </a:r>
          </a:p>
        </p:txBody>
      </p:sp>
      <p:sp>
        <p:nvSpPr>
          <p:cNvPr id="30" name="Rounded Rectangle 29"/>
          <p:cNvSpPr/>
          <p:nvPr/>
        </p:nvSpPr>
        <p:spPr>
          <a:xfrm>
            <a:off x="8412480" y="2468879"/>
            <a:ext cx="1691640" cy="502920"/>
          </a:xfrm>
          <a:prstGeom prst="roundRect">
            <a:avLst/>
          </a:prstGeom>
          <a:solidFill>
            <a:srgbClr val="E8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03920" y="2542031"/>
            <a:ext cx="1508760" cy="411480"/>
          </a:xfrm>
          <a:prstGeom prst="rect">
            <a:avLst/>
          </a:prstGeom>
          <a:noFill/>
        </p:spPr>
        <p:txBody>
          <a:bodyPr wrap="square" lIns="50800" rIns="50800" tIns="25400" bIns="25400" anchor="t">
            <a:spAutoFit/>
          </a:bodyPr>
          <a:lstStyle/>
          <a:p>
            <a:pPr algn="ctr"/>
            <a:r>
              <a:rPr sz="1100" b="0" i="0">
                <a:solidFill>
                  <a:srgbClr val="4B4B57"/>
                </a:solidFill>
                <a:latin typeface="Calibri"/>
              </a:rPr>
              <a:t>Answers</a:t>
            </a:r>
          </a:p>
        </p:txBody>
      </p:sp>
      <p:sp>
        <p:nvSpPr>
          <p:cNvPr id="32" name="Rounded Rectangle 31"/>
          <p:cNvSpPr/>
          <p:nvPr/>
        </p:nvSpPr>
        <p:spPr>
          <a:xfrm>
            <a:off x="10195560" y="2468879"/>
            <a:ext cx="1691640" cy="50292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86999" y="2542031"/>
            <a:ext cx="1508760" cy="411480"/>
          </a:xfrm>
          <a:prstGeom prst="rect">
            <a:avLst/>
          </a:prstGeom>
          <a:noFill/>
        </p:spPr>
        <p:txBody>
          <a:bodyPr wrap="square" lIns="50800" rIns="50800" tIns="25400" bIns="25400" anchor="t">
            <a:spAutoFit/>
          </a:bodyPr>
          <a:lstStyle/>
          <a:p>
            <a:pPr algn="ctr"/>
            <a:r>
              <a:rPr sz="1100" b="1" i="0">
                <a:solidFill>
                  <a:srgbClr val="F2862F"/>
                </a:solidFill>
                <a:latin typeface="Calibri"/>
              </a:rPr>
              <a:t>Takes actions</a:t>
            </a:r>
          </a:p>
        </p:txBody>
      </p:sp>
      <p:sp>
        <p:nvSpPr>
          <p:cNvPr id="34" name="Rounded Rectangle 33"/>
          <p:cNvSpPr/>
          <p:nvPr/>
        </p:nvSpPr>
        <p:spPr>
          <a:xfrm>
            <a:off x="8412480" y="3063239"/>
            <a:ext cx="1691640" cy="502920"/>
          </a:xfrm>
          <a:prstGeom prst="roundRect">
            <a:avLst/>
          </a:prstGeom>
          <a:solidFill>
            <a:srgbClr val="E8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3920" y="3136391"/>
            <a:ext cx="1508760" cy="411480"/>
          </a:xfrm>
          <a:prstGeom prst="rect">
            <a:avLst/>
          </a:prstGeom>
          <a:noFill/>
        </p:spPr>
        <p:txBody>
          <a:bodyPr wrap="square" lIns="50800" rIns="50800" tIns="25400" bIns="25400" anchor="t">
            <a:spAutoFit/>
          </a:bodyPr>
          <a:lstStyle/>
          <a:p>
            <a:pPr algn="ctr"/>
            <a:r>
              <a:rPr sz="1100" b="0" i="0">
                <a:solidFill>
                  <a:srgbClr val="4B4B57"/>
                </a:solidFill>
                <a:latin typeface="Calibri"/>
              </a:rPr>
              <a:t>English only</a:t>
            </a:r>
          </a:p>
        </p:txBody>
      </p:sp>
      <p:sp>
        <p:nvSpPr>
          <p:cNvPr id="36" name="Rounded Rectangle 35"/>
          <p:cNvSpPr/>
          <p:nvPr/>
        </p:nvSpPr>
        <p:spPr>
          <a:xfrm>
            <a:off x="10195560" y="3063239"/>
            <a:ext cx="1691640" cy="50292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86999" y="3136391"/>
            <a:ext cx="1508760" cy="411480"/>
          </a:xfrm>
          <a:prstGeom prst="rect">
            <a:avLst/>
          </a:prstGeom>
          <a:noFill/>
        </p:spPr>
        <p:txBody>
          <a:bodyPr wrap="square" lIns="50800" rIns="50800" tIns="25400" bIns="25400" anchor="t">
            <a:spAutoFit/>
          </a:bodyPr>
          <a:lstStyle/>
          <a:p>
            <a:pPr algn="ctr"/>
            <a:r>
              <a:rPr sz="1100" b="1" i="0">
                <a:solidFill>
                  <a:srgbClr val="F2862F"/>
                </a:solidFill>
                <a:latin typeface="Calibri"/>
              </a:rPr>
              <a:t>Vernacular voice</a:t>
            </a:r>
          </a:p>
        </p:txBody>
      </p:sp>
      <p:sp>
        <p:nvSpPr>
          <p:cNvPr id="38" name="Rounded Rectangle 37"/>
          <p:cNvSpPr/>
          <p:nvPr/>
        </p:nvSpPr>
        <p:spPr>
          <a:xfrm>
            <a:off x="8412480" y="3657599"/>
            <a:ext cx="1691640" cy="502920"/>
          </a:xfrm>
          <a:prstGeom prst="roundRect">
            <a:avLst/>
          </a:prstGeom>
          <a:solidFill>
            <a:srgbClr val="E8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03920" y="3730751"/>
            <a:ext cx="1508760" cy="411480"/>
          </a:xfrm>
          <a:prstGeom prst="rect">
            <a:avLst/>
          </a:prstGeom>
          <a:noFill/>
        </p:spPr>
        <p:txBody>
          <a:bodyPr wrap="square" lIns="50800" rIns="50800" tIns="25400" bIns="25400" anchor="t">
            <a:spAutoFit/>
          </a:bodyPr>
          <a:lstStyle/>
          <a:p>
            <a:pPr algn="ctr"/>
            <a:r>
              <a:rPr sz="1100" b="0" i="0">
                <a:solidFill>
                  <a:srgbClr val="4B4B57"/>
                </a:solidFill>
                <a:latin typeface="Calibri"/>
              </a:rPr>
              <a:t>No tools</a:t>
            </a:r>
          </a:p>
        </p:txBody>
      </p:sp>
      <p:sp>
        <p:nvSpPr>
          <p:cNvPr id="40" name="Rounded Rectangle 39"/>
          <p:cNvSpPr/>
          <p:nvPr/>
        </p:nvSpPr>
        <p:spPr>
          <a:xfrm>
            <a:off x="10195560" y="3657599"/>
            <a:ext cx="1691640" cy="50292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86999" y="3730751"/>
            <a:ext cx="1508760" cy="411480"/>
          </a:xfrm>
          <a:prstGeom prst="rect">
            <a:avLst/>
          </a:prstGeom>
          <a:noFill/>
        </p:spPr>
        <p:txBody>
          <a:bodyPr wrap="square" lIns="50800" rIns="50800" tIns="25400" bIns="25400" anchor="t">
            <a:spAutoFit/>
          </a:bodyPr>
          <a:lstStyle/>
          <a:p>
            <a:pPr algn="ctr"/>
            <a:r>
              <a:rPr sz="1100" b="1" i="0">
                <a:solidFill>
                  <a:srgbClr val="F2862F"/>
                </a:solidFill>
                <a:latin typeface="Calibri"/>
              </a:rPr>
              <a:t>Tool-calling</a:t>
            </a:r>
          </a:p>
        </p:txBody>
      </p:sp>
      <p:sp>
        <p:nvSpPr>
          <p:cNvPr id="42" name="Rounded Rectangle 41"/>
          <p:cNvSpPr/>
          <p:nvPr/>
        </p:nvSpPr>
        <p:spPr>
          <a:xfrm>
            <a:off x="457200" y="5760720"/>
            <a:ext cx="11247120" cy="59436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5788152"/>
            <a:ext cx="11247120" cy="548640"/>
          </a:xfrm>
          <a:prstGeom prst="rect">
            <a:avLst/>
          </a:prstGeom>
          <a:noFill/>
        </p:spPr>
        <p:txBody>
          <a:bodyPr wrap="square" lIns="50800" rIns="50800" tIns="25400" bIns="25400" anchor="t">
            <a:spAutoFit/>
          </a:bodyPr>
          <a:lstStyle/>
          <a:p>
            <a:pPr algn="ctr"/>
            <a:r>
              <a:rPr sz="1400" b="1" i="1">
                <a:solidFill>
                  <a:srgbClr val="1E1B4B"/>
                </a:solidFill>
                <a:latin typeface="Calibri"/>
              </a:rPr>
              <a:t>Consent-first  ·  DPDP-compliant  ·  RBI digital-lending aligned  ·  Explainable by default</a:t>
            </a:r>
          </a:p>
        </p:txBody>
      </p:sp>
      <p:sp>
        <p:nvSpPr>
          <p:cNvPr id="44" name="Rectangle 43"/>
          <p:cNvSpPr/>
          <p:nvPr/>
        </p:nvSpPr>
        <p:spPr>
          <a:xfrm>
            <a:off x="0" y="6537960"/>
            <a:ext cx="12191695" cy="32004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565392"/>
            <a:ext cx="11247120" cy="274320"/>
          </a:xfrm>
          <a:prstGeom prst="rect">
            <a:avLst/>
          </a:prstGeom>
          <a:noFill/>
        </p:spPr>
        <p:txBody>
          <a:bodyPr wrap="square" lIns="50800" rIns="50800" tIns="25400" bIns="25400" anchor="t">
            <a:spAutoFit/>
          </a:bodyPr>
          <a:lstStyle/>
          <a:p>
            <a:pPr algn="l"/>
            <a:r>
              <a:rPr sz="1000" b="0" i="1">
                <a:solidFill>
                  <a:srgbClr val="FFFFFF"/>
                </a:solidFill>
                <a:latin typeface="Calibri"/>
              </a:rPr>
              <a:t>SARTHI  ·  Your AI Sarthi — from dream to degree.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09728" cy="502920"/>
          </a:xfrm>
          <a:prstGeom prst="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11480"/>
            <a:ext cx="10972800" cy="731520"/>
          </a:xfrm>
          <a:prstGeom prst="rect">
            <a:avLst/>
          </a:prstGeom>
          <a:noFill/>
        </p:spPr>
        <p:txBody>
          <a:bodyPr wrap="square" lIns="50800" rIns="50800" tIns="25400" bIns="25400" anchor="t">
            <a:spAutoFit/>
          </a:bodyPr>
          <a:lstStyle/>
          <a:p>
            <a:pPr algn="l"/>
            <a:r>
              <a:rPr sz="3200" b="1" i="0">
                <a:solidFill>
                  <a:srgbClr val="1E1B4B"/>
                </a:solidFill>
                <a:latin typeface="Calibri"/>
              </a:rPr>
              <a:t>The zero-human-intervention growth loop.</a:t>
            </a:r>
          </a:p>
        </p:txBody>
      </p:sp>
      <p:sp>
        <p:nvSpPr>
          <p:cNvPr id="5" name="Rectangle 4"/>
          <p:cNvSpPr/>
          <p:nvPr/>
        </p:nvSpPr>
        <p:spPr>
          <a:xfrm>
            <a:off x="457200" y="1143000"/>
            <a:ext cx="11247120" cy="12700"/>
          </a:xfrm>
          <a:prstGeom prst="rect">
            <a:avLst/>
          </a:prstGeom>
          <a:solidFill>
            <a:srgbClr val="E8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20"/>
            <a:ext cx="11247120" cy="365760"/>
          </a:xfrm>
          <a:prstGeom prst="rect">
            <a:avLst/>
          </a:prstGeom>
          <a:noFill/>
        </p:spPr>
        <p:txBody>
          <a:bodyPr wrap="square" lIns="50800" rIns="50800" tIns="25400" bIns="25400" anchor="t">
            <a:spAutoFit/>
          </a:bodyPr>
          <a:lstStyle/>
          <a:p>
            <a:pPr algn="l"/>
            <a:r>
              <a:rPr sz="1300" b="0" i="1">
                <a:solidFill>
                  <a:srgbClr val="4B4B57"/>
                </a:solidFill>
                <a:latin typeface="Calibri"/>
              </a:rPr>
              <a:t>Directly answering the hackathon's bonus challenge.</a:t>
            </a:r>
          </a:p>
        </p:txBody>
      </p:sp>
      <p:sp>
        <p:nvSpPr>
          <p:cNvPr id="7" name="Rounded Rectangle 6"/>
          <p:cNvSpPr/>
          <p:nvPr/>
        </p:nvSpPr>
        <p:spPr>
          <a:xfrm>
            <a:off x="502920" y="2011680"/>
            <a:ext cx="2148840" cy="237744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257300" y="2176272"/>
            <a:ext cx="640080" cy="6400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57300" y="2212848"/>
            <a:ext cx="640080" cy="594360"/>
          </a:xfrm>
          <a:prstGeom prst="rect">
            <a:avLst/>
          </a:prstGeom>
          <a:noFill/>
        </p:spPr>
        <p:txBody>
          <a:bodyPr wrap="square" lIns="50800" rIns="50800" tIns="25400" bIns="25400" anchor="t">
            <a:spAutoFit/>
          </a:bodyPr>
          <a:lstStyle/>
          <a:p>
            <a:pPr algn="ctr"/>
            <a:r>
              <a:rPr sz="2200" b="1" i="0">
                <a:solidFill>
                  <a:srgbClr val="1E1B4B"/>
                </a:solidFill>
                <a:latin typeface="Calibri"/>
              </a:rPr>
              <a:t>1</a:t>
            </a:r>
          </a:p>
        </p:txBody>
      </p:sp>
      <p:sp>
        <p:nvSpPr>
          <p:cNvPr id="10" name="TextBox 9"/>
          <p:cNvSpPr txBox="1"/>
          <p:nvPr/>
        </p:nvSpPr>
        <p:spPr>
          <a:xfrm>
            <a:off x="502920" y="2926080"/>
            <a:ext cx="2148840" cy="457200"/>
          </a:xfrm>
          <a:prstGeom prst="rect">
            <a:avLst/>
          </a:prstGeom>
          <a:noFill/>
        </p:spPr>
        <p:txBody>
          <a:bodyPr wrap="square" lIns="50800" rIns="50800" tIns="25400" bIns="25400" anchor="t">
            <a:spAutoFit/>
          </a:bodyPr>
          <a:lstStyle/>
          <a:p>
            <a:pPr algn="ctr"/>
            <a:r>
              <a:rPr sz="1400" b="1" i="0">
                <a:solidFill>
                  <a:srgbClr val="F2862F"/>
                </a:solidFill>
                <a:latin typeface="Calibri"/>
              </a:rPr>
              <a:t>ACQUIRE</a:t>
            </a:r>
          </a:p>
        </p:txBody>
      </p:sp>
      <p:sp>
        <p:nvSpPr>
          <p:cNvPr id="11" name="TextBox 10"/>
          <p:cNvSpPr txBox="1"/>
          <p:nvPr/>
        </p:nvSpPr>
        <p:spPr>
          <a:xfrm>
            <a:off x="640080" y="3383280"/>
            <a:ext cx="1874520" cy="1005840"/>
          </a:xfrm>
          <a:prstGeom prst="rect">
            <a:avLst/>
          </a:prstGeom>
          <a:noFill/>
        </p:spPr>
        <p:txBody>
          <a:bodyPr wrap="square" lIns="50800" rIns="50800" tIns="25400" bIns="25400" anchor="t">
            <a:spAutoFit/>
          </a:bodyPr>
          <a:lstStyle/>
          <a:p>
            <a:pPr algn="ctr"/>
            <a:r>
              <a:rPr sz="1000" b="0" i="0">
                <a:solidFill>
                  <a:srgbClr val="FFFFFF"/>
                </a:solidFill>
                <a:latin typeface="Calibri"/>
              </a:rPr>
              <a:t>AI-generated IG reels + SEO blogs</a:t>
            </a:r>
          </a:p>
          <a:p>
            <a:pPr algn="ctr"/>
            <a:r>
              <a:rPr sz="1000" b="0" i="0">
                <a:solidFill>
                  <a:srgbClr val="FFFFFF"/>
                </a:solidFill>
                <a:latin typeface="Calibri"/>
              </a:rPr>
              <a:t>(1 / day / city × course)</a:t>
            </a:r>
          </a:p>
        </p:txBody>
      </p:sp>
      <p:sp>
        <p:nvSpPr>
          <p:cNvPr id="12" name="Rounded Rectangle 11"/>
          <p:cNvSpPr/>
          <p:nvPr/>
        </p:nvSpPr>
        <p:spPr>
          <a:xfrm>
            <a:off x="2724912" y="2011680"/>
            <a:ext cx="2148840" cy="237744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79292" y="2176272"/>
            <a:ext cx="640080" cy="6400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9292" y="2212848"/>
            <a:ext cx="640080" cy="594360"/>
          </a:xfrm>
          <a:prstGeom prst="rect">
            <a:avLst/>
          </a:prstGeom>
          <a:noFill/>
        </p:spPr>
        <p:txBody>
          <a:bodyPr wrap="square" lIns="50800" rIns="50800" tIns="25400" bIns="25400" anchor="t">
            <a:spAutoFit/>
          </a:bodyPr>
          <a:lstStyle/>
          <a:p>
            <a:pPr algn="ctr"/>
            <a:r>
              <a:rPr sz="2200" b="1" i="0">
                <a:solidFill>
                  <a:srgbClr val="1E1B4B"/>
                </a:solidFill>
                <a:latin typeface="Calibri"/>
              </a:rPr>
              <a:t>2</a:t>
            </a:r>
          </a:p>
        </p:txBody>
      </p:sp>
      <p:sp>
        <p:nvSpPr>
          <p:cNvPr id="15" name="TextBox 14"/>
          <p:cNvSpPr txBox="1"/>
          <p:nvPr/>
        </p:nvSpPr>
        <p:spPr>
          <a:xfrm>
            <a:off x="2724912" y="2926080"/>
            <a:ext cx="2148840" cy="457200"/>
          </a:xfrm>
          <a:prstGeom prst="rect">
            <a:avLst/>
          </a:prstGeom>
          <a:noFill/>
        </p:spPr>
        <p:txBody>
          <a:bodyPr wrap="square" lIns="50800" rIns="50800" tIns="25400" bIns="25400" anchor="t">
            <a:spAutoFit/>
          </a:bodyPr>
          <a:lstStyle/>
          <a:p>
            <a:pPr algn="ctr"/>
            <a:r>
              <a:rPr sz="1400" b="1" i="0">
                <a:solidFill>
                  <a:srgbClr val="F2862F"/>
                </a:solidFill>
                <a:latin typeface="Calibri"/>
              </a:rPr>
              <a:t>ENGAGE</a:t>
            </a:r>
          </a:p>
        </p:txBody>
      </p:sp>
      <p:sp>
        <p:nvSpPr>
          <p:cNvPr id="16" name="TextBox 15"/>
          <p:cNvSpPr txBox="1"/>
          <p:nvPr/>
        </p:nvSpPr>
        <p:spPr>
          <a:xfrm>
            <a:off x="2862072" y="3383280"/>
            <a:ext cx="1874520" cy="1005840"/>
          </a:xfrm>
          <a:prstGeom prst="rect">
            <a:avLst/>
          </a:prstGeom>
          <a:noFill/>
        </p:spPr>
        <p:txBody>
          <a:bodyPr wrap="square" lIns="50800" rIns="50800" tIns="25400" bIns="25400" anchor="t">
            <a:spAutoFit/>
          </a:bodyPr>
          <a:lstStyle/>
          <a:p>
            <a:pPr algn="ctr"/>
            <a:r>
              <a:rPr sz="1000" b="0" i="0">
                <a:solidFill>
                  <a:srgbClr val="FFFFFF"/>
                </a:solidFill>
                <a:latin typeface="Calibri"/>
              </a:rPr>
              <a:t>Free shortlister / ROI hook</a:t>
            </a:r>
          </a:p>
          <a:p>
            <a:pPr algn="ctr"/>
            <a:r>
              <a:rPr sz="1000" b="0" i="0">
                <a:solidFill>
                  <a:srgbClr val="FFFFFF"/>
                </a:solidFill>
                <a:latin typeface="Calibri"/>
              </a:rPr>
              <a:t>Profile built in 5 minutes</a:t>
            </a:r>
          </a:p>
        </p:txBody>
      </p:sp>
      <p:sp>
        <p:nvSpPr>
          <p:cNvPr id="17" name="Rounded Rectangle 16"/>
          <p:cNvSpPr/>
          <p:nvPr/>
        </p:nvSpPr>
        <p:spPr>
          <a:xfrm>
            <a:off x="4946904" y="2011680"/>
            <a:ext cx="2148840" cy="237744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701284" y="2176272"/>
            <a:ext cx="640080" cy="6400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01284" y="2212848"/>
            <a:ext cx="640080" cy="594360"/>
          </a:xfrm>
          <a:prstGeom prst="rect">
            <a:avLst/>
          </a:prstGeom>
          <a:noFill/>
        </p:spPr>
        <p:txBody>
          <a:bodyPr wrap="square" lIns="50800" rIns="50800" tIns="25400" bIns="25400" anchor="t">
            <a:spAutoFit/>
          </a:bodyPr>
          <a:lstStyle/>
          <a:p>
            <a:pPr algn="ctr"/>
            <a:r>
              <a:rPr sz="2200" b="1" i="0">
                <a:solidFill>
                  <a:srgbClr val="1E1B4B"/>
                </a:solidFill>
                <a:latin typeface="Calibri"/>
              </a:rPr>
              <a:t>3</a:t>
            </a:r>
          </a:p>
        </p:txBody>
      </p:sp>
      <p:sp>
        <p:nvSpPr>
          <p:cNvPr id="20" name="TextBox 19"/>
          <p:cNvSpPr txBox="1"/>
          <p:nvPr/>
        </p:nvSpPr>
        <p:spPr>
          <a:xfrm>
            <a:off x="4946904" y="2926080"/>
            <a:ext cx="2148840" cy="457200"/>
          </a:xfrm>
          <a:prstGeom prst="rect">
            <a:avLst/>
          </a:prstGeom>
          <a:noFill/>
        </p:spPr>
        <p:txBody>
          <a:bodyPr wrap="square" lIns="50800" rIns="50800" tIns="25400" bIns="25400" anchor="t">
            <a:spAutoFit/>
          </a:bodyPr>
          <a:lstStyle/>
          <a:p>
            <a:pPr algn="ctr"/>
            <a:r>
              <a:rPr sz="1400" b="1" i="0">
                <a:solidFill>
                  <a:srgbClr val="F2862F"/>
                </a:solidFill>
                <a:latin typeface="Calibri"/>
              </a:rPr>
              <a:t>NURTURE</a:t>
            </a:r>
          </a:p>
        </p:txBody>
      </p:sp>
      <p:sp>
        <p:nvSpPr>
          <p:cNvPr id="21" name="TextBox 20"/>
          <p:cNvSpPr txBox="1"/>
          <p:nvPr/>
        </p:nvSpPr>
        <p:spPr>
          <a:xfrm>
            <a:off x="5084064" y="3383280"/>
            <a:ext cx="1874520" cy="1005840"/>
          </a:xfrm>
          <a:prstGeom prst="rect">
            <a:avLst/>
          </a:prstGeom>
          <a:noFill/>
        </p:spPr>
        <p:txBody>
          <a:bodyPr wrap="square" lIns="50800" rIns="50800" tIns="25400" bIns="25400" anchor="t">
            <a:spAutoFit/>
          </a:bodyPr>
          <a:lstStyle/>
          <a:p>
            <a:pPr algn="ctr"/>
            <a:r>
              <a:rPr sz="1000" b="0" i="0">
                <a:solidFill>
                  <a:srgbClr val="FFFFFF"/>
                </a:solidFill>
                <a:latin typeface="Calibri"/>
              </a:rPr>
              <a:t>Proactive WhatsApp nudges</a:t>
            </a:r>
          </a:p>
          <a:p>
            <a:pPr algn="ctr"/>
            <a:r>
              <a:rPr sz="1000" b="0" i="0">
                <a:solidFill>
                  <a:srgbClr val="FFFFFF"/>
                </a:solidFill>
                <a:latin typeface="Calibri"/>
              </a:rPr>
              <a:t>Streaks · milestones</a:t>
            </a:r>
          </a:p>
        </p:txBody>
      </p:sp>
      <p:sp>
        <p:nvSpPr>
          <p:cNvPr id="22" name="Rounded Rectangle 21"/>
          <p:cNvSpPr/>
          <p:nvPr/>
        </p:nvSpPr>
        <p:spPr>
          <a:xfrm>
            <a:off x="7168896" y="2011680"/>
            <a:ext cx="2148840" cy="237744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923276" y="2176272"/>
            <a:ext cx="640080" cy="6400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3276" y="2212848"/>
            <a:ext cx="640080" cy="594360"/>
          </a:xfrm>
          <a:prstGeom prst="rect">
            <a:avLst/>
          </a:prstGeom>
          <a:noFill/>
        </p:spPr>
        <p:txBody>
          <a:bodyPr wrap="square" lIns="50800" rIns="50800" tIns="25400" bIns="25400" anchor="t">
            <a:spAutoFit/>
          </a:bodyPr>
          <a:lstStyle/>
          <a:p>
            <a:pPr algn="ctr"/>
            <a:r>
              <a:rPr sz="2200" b="1" i="0">
                <a:solidFill>
                  <a:srgbClr val="1E1B4B"/>
                </a:solidFill>
                <a:latin typeface="Calibri"/>
              </a:rPr>
              <a:t>4</a:t>
            </a:r>
          </a:p>
        </p:txBody>
      </p:sp>
      <p:sp>
        <p:nvSpPr>
          <p:cNvPr id="25" name="TextBox 24"/>
          <p:cNvSpPr txBox="1"/>
          <p:nvPr/>
        </p:nvSpPr>
        <p:spPr>
          <a:xfrm>
            <a:off x="7168896" y="2926080"/>
            <a:ext cx="2148840" cy="457200"/>
          </a:xfrm>
          <a:prstGeom prst="rect">
            <a:avLst/>
          </a:prstGeom>
          <a:noFill/>
        </p:spPr>
        <p:txBody>
          <a:bodyPr wrap="square" lIns="50800" rIns="50800" tIns="25400" bIns="25400" anchor="t">
            <a:spAutoFit/>
          </a:bodyPr>
          <a:lstStyle/>
          <a:p>
            <a:pPr algn="ctr"/>
            <a:r>
              <a:rPr sz="1400" b="1" i="0">
                <a:solidFill>
                  <a:srgbClr val="F2862F"/>
                </a:solidFill>
                <a:latin typeface="Calibri"/>
              </a:rPr>
              <a:t>CONVERT</a:t>
            </a:r>
          </a:p>
        </p:txBody>
      </p:sp>
      <p:sp>
        <p:nvSpPr>
          <p:cNvPr id="26" name="TextBox 25"/>
          <p:cNvSpPr txBox="1"/>
          <p:nvPr/>
        </p:nvSpPr>
        <p:spPr>
          <a:xfrm>
            <a:off x="7306056" y="3383280"/>
            <a:ext cx="1874520" cy="1005840"/>
          </a:xfrm>
          <a:prstGeom prst="rect">
            <a:avLst/>
          </a:prstGeom>
          <a:noFill/>
        </p:spPr>
        <p:txBody>
          <a:bodyPr wrap="square" lIns="50800" rIns="50800" tIns="25400" bIns="25400" anchor="t">
            <a:spAutoFit/>
          </a:bodyPr>
          <a:lstStyle/>
          <a:p>
            <a:pPr algn="ctr"/>
            <a:r>
              <a:rPr sz="1000" b="0" i="0">
                <a:solidFill>
                  <a:srgbClr val="FFFFFF"/>
                </a:solidFill>
                <a:latin typeface="Calibri"/>
              </a:rPr>
              <a:t>Personalized loan offer</a:t>
            </a:r>
          </a:p>
          <a:p>
            <a:pPr algn="ctr"/>
            <a:r>
              <a:rPr sz="1000" b="0" i="0">
                <a:solidFill>
                  <a:srgbClr val="FFFFFF"/>
                </a:solidFill>
                <a:latin typeface="Calibri"/>
              </a:rPr>
              <a:t>Auto-filled application</a:t>
            </a:r>
          </a:p>
        </p:txBody>
      </p:sp>
      <p:sp>
        <p:nvSpPr>
          <p:cNvPr id="27" name="Rounded Rectangle 26"/>
          <p:cNvSpPr/>
          <p:nvPr/>
        </p:nvSpPr>
        <p:spPr>
          <a:xfrm>
            <a:off x="9390888" y="2011680"/>
            <a:ext cx="2148840" cy="237744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145268" y="2176272"/>
            <a:ext cx="640080" cy="64008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45268" y="2212848"/>
            <a:ext cx="640080" cy="594360"/>
          </a:xfrm>
          <a:prstGeom prst="rect">
            <a:avLst/>
          </a:prstGeom>
          <a:noFill/>
        </p:spPr>
        <p:txBody>
          <a:bodyPr wrap="square" lIns="50800" rIns="50800" tIns="25400" bIns="25400" anchor="t">
            <a:spAutoFit/>
          </a:bodyPr>
          <a:lstStyle/>
          <a:p>
            <a:pPr algn="ctr"/>
            <a:r>
              <a:rPr sz="2200" b="1" i="0">
                <a:solidFill>
                  <a:srgbClr val="1E1B4B"/>
                </a:solidFill>
                <a:latin typeface="Calibri"/>
              </a:rPr>
              <a:t>5</a:t>
            </a:r>
          </a:p>
        </p:txBody>
      </p:sp>
      <p:sp>
        <p:nvSpPr>
          <p:cNvPr id="30" name="TextBox 29"/>
          <p:cNvSpPr txBox="1"/>
          <p:nvPr/>
        </p:nvSpPr>
        <p:spPr>
          <a:xfrm>
            <a:off x="9390888" y="2926080"/>
            <a:ext cx="2148840" cy="457200"/>
          </a:xfrm>
          <a:prstGeom prst="rect">
            <a:avLst/>
          </a:prstGeom>
          <a:noFill/>
        </p:spPr>
        <p:txBody>
          <a:bodyPr wrap="square" lIns="50800" rIns="50800" tIns="25400" bIns="25400" anchor="t">
            <a:spAutoFit/>
          </a:bodyPr>
          <a:lstStyle/>
          <a:p>
            <a:pPr algn="ctr"/>
            <a:r>
              <a:rPr sz="1400" b="1" i="0">
                <a:solidFill>
                  <a:srgbClr val="F2862F"/>
                </a:solidFill>
                <a:latin typeface="Calibri"/>
              </a:rPr>
              <a:t>AMPLIFY</a:t>
            </a:r>
          </a:p>
        </p:txBody>
      </p:sp>
      <p:sp>
        <p:nvSpPr>
          <p:cNvPr id="31" name="TextBox 30"/>
          <p:cNvSpPr txBox="1"/>
          <p:nvPr/>
        </p:nvSpPr>
        <p:spPr>
          <a:xfrm>
            <a:off x="9528048" y="3383280"/>
            <a:ext cx="1874520" cy="1005840"/>
          </a:xfrm>
          <a:prstGeom prst="rect">
            <a:avLst/>
          </a:prstGeom>
          <a:noFill/>
        </p:spPr>
        <p:txBody>
          <a:bodyPr wrap="square" lIns="50800" rIns="50800" tIns="25400" bIns="25400" anchor="t">
            <a:spAutoFit/>
          </a:bodyPr>
          <a:lstStyle/>
          <a:p>
            <a:pPr algn="ctr"/>
            <a:r>
              <a:rPr sz="1000" b="0" i="0">
                <a:solidFill>
                  <a:srgbClr val="FFFFFF"/>
                </a:solidFill>
                <a:latin typeface="Calibri"/>
              </a:rPr>
              <a:t>Study Abroad Passport</a:t>
            </a:r>
          </a:p>
          <a:p>
            <a:pPr algn="ctr"/>
            <a:r>
              <a:rPr sz="1000" b="0" i="0">
                <a:solidFill>
                  <a:srgbClr val="FFFFFF"/>
                </a:solidFill>
                <a:latin typeface="Calibri"/>
              </a:rPr>
              <a:t>3 friends join → loop closes</a:t>
            </a:r>
          </a:p>
        </p:txBody>
      </p:sp>
      <p:sp>
        <p:nvSpPr>
          <p:cNvPr id="32" name="TextBox 31"/>
          <p:cNvSpPr txBox="1"/>
          <p:nvPr/>
        </p:nvSpPr>
        <p:spPr>
          <a:xfrm>
            <a:off x="457200" y="4572000"/>
            <a:ext cx="11247120" cy="457200"/>
          </a:xfrm>
          <a:prstGeom prst="rect">
            <a:avLst/>
          </a:prstGeom>
          <a:noFill/>
        </p:spPr>
        <p:txBody>
          <a:bodyPr wrap="square" lIns="50800" rIns="50800" tIns="25400" bIns="25400" anchor="t">
            <a:spAutoFit/>
          </a:bodyPr>
          <a:lstStyle/>
          <a:p>
            <a:pPr algn="ctr"/>
            <a:r>
              <a:rPr sz="1300" b="1" i="1">
                <a:solidFill>
                  <a:srgbClr val="F2862F"/>
                </a:solidFill>
                <a:latin typeface="Calibri"/>
              </a:rPr>
              <a:t>↻  Amplify → Acquire  (closed loop)</a:t>
            </a:r>
          </a:p>
        </p:txBody>
      </p:sp>
      <p:sp>
        <p:nvSpPr>
          <p:cNvPr id="33" name="Rounded Rectangle 32"/>
          <p:cNvSpPr/>
          <p:nvPr/>
        </p:nvSpPr>
        <p:spPr>
          <a:xfrm>
            <a:off x="457200" y="5166360"/>
            <a:ext cx="11247120" cy="118872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257800"/>
            <a:ext cx="10972800" cy="548640"/>
          </a:xfrm>
          <a:prstGeom prst="rect">
            <a:avLst/>
          </a:prstGeom>
          <a:noFill/>
        </p:spPr>
        <p:txBody>
          <a:bodyPr wrap="square" lIns="50800" rIns="50800" tIns="25400" bIns="25400" anchor="t">
            <a:spAutoFit/>
          </a:bodyPr>
          <a:lstStyle/>
          <a:p>
            <a:pPr algn="ctr"/>
            <a:r>
              <a:rPr sz="2200" b="1" i="0">
                <a:solidFill>
                  <a:srgbClr val="F2862F"/>
                </a:solidFill>
                <a:latin typeface="Calibri"/>
              </a:rPr>
              <a:t>Target K-factor: 1.5</a:t>
            </a:r>
          </a:p>
        </p:txBody>
      </p:sp>
      <p:sp>
        <p:nvSpPr>
          <p:cNvPr id="35" name="TextBox 34"/>
          <p:cNvSpPr txBox="1"/>
          <p:nvPr/>
        </p:nvSpPr>
        <p:spPr>
          <a:xfrm>
            <a:off x="640080" y="5760720"/>
            <a:ext cx="10972800" cy="548640"/>
          </a:xfrm>
          <a:prstGeom prst="rect">
            <a:avLst/>
          </a:prstGeom>
          <a:noFill/>
        </p:spPr>
        <p:txBody>
          <a:bodyPr wrap="square" lIns="50800" rIns="50800" tIns="25400" bIns="25400" anchor="t">
            <a:spAutoFit/>
          </a:bodyPr>
          <a:lstStyle/>
          <a:p>
            <a:pPr algn="ctr"/>
            <a:r>
              <a:rPr sz="1300" b="0" i="1">
                <a:solidFill>
                  <a:srgbClr val="FFFFFF"/>
                </a:solidFill>
                <a:latin typeface="Calibri"/>
              </a:rPr>
              <a:t>Every 2 converted students bring 3 friends into the top of the funnel. Acquisition cost approaches zero over time.</a:t>
            </a:r>
          </a:p>
        </p:txBody>
      </p:sp>
      <p:sp>
        <p:nvSpPr>
          <p:cNvPr id="36" name="Rectangle 35"/>
          <p:cNvSpPr/>
          <p:nvPr/>
        </p:nvSpPr>
        <p:spPr>
          <a:xfrm>
            <a:off x="0" y="6537960"/>
            <a:ext cx="12191695" cy="32004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565392"/>
            <a:ext cx="11247120" cy="274320"/>
          </a:xfrm>
          <a:prstGeom prst="rect">
            <a:avLst/>
          </a:prstGeom>
          <a:noFill/>
        </p:spPr>
        <p:txBody>
          <a:bodyPr wrap="square" lIns="50800" rIns="50800" tIns="25400" bIns="25400" anchor="t">
            <a:spAutoFit/>
          </a:bodyPr>
          <a:lstStyle/>
          <a:p>
            <a:pPr algn="l"/>
            <a:r>
              <a:rPr sz="1000" b="0" i="1">
                <a:solidFill>
                  <a:srgbClr val="FFFFFF"/>
                </a:solidFill>
                <a:latin typeface="Calibri"/>
              </a:rPr>
              <a:t>SARTHI  ·  Your AI Sarthi — from dream to degree.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09728" cy="502920"/>
          </a:xfrm>
          <a:prstGeom prst="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11480"/>
            <a:ext cx="10972800" cy="731520"/>
          </a:xfrm>
          <a:prstGeom prst="rect">
            <a:avLst/>
          </a:prstGeom>
          <a:noFill/>
        </p:spPr>
        <p:txBody>
          <a:bodyPr wrap="square" lIns="50800" rIns="50800" tIns="25400" bIns="25400" anchor="t">
            <a:spAutoFit/>
          </a:bodyPr>
          <a:lstStyle/>
          <a:p>
            <a:pPr algn="l"/>
            <a:r>
              <a:rPr sz="3200" b="1" i="0">
                <a:solidFill>
                  <a:srgbClr val="1E1B4B"/>
                </a:solidFill>
                <a:latin typeface="Calibri"/>
              </a:rPr>
              <a:t>From ₹5,000 CAC to a 30-year relationship.</a:t>
            </a:r>
          </a:p>
        </p:txBody>
      </p:sp>
      <p:sp>
        <p:nvSpPr>
          <p:cNvPr id="5" name="Rectangle 4"/>
          <p:cNvSpPr/>
          <p:nvPr/>
        </p:nvSpPr>
        <p:spPr>
          <a:xfrm>
            <a:off x="457200" y="1143000"/>
            <a:ext cx="11247120" cy="12700"/>
          </a:xfrm>
          <a:prstGeom prst="rect">
            <a:avLst/>
          </a:prstGeom>
          <a:solidFill>
            <a:srgbClr val="E8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325880"/>
            <a:ext cx="11247120" cy="100584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71600"/>
            <a:ext cx="11247120" cy="914400"/>
          </a:xfrm>
          <a:prstGeom prst="rect">
            <a:avLst/>
          </a:prstGeom>
          <a:noFill/>
        </p:spPr>
        <p:txBody>
          <a:bodyPr wrap="square" lIns="50800" rIns="50800" tIns="25400" bIns="25400" anchor="ctr">
            <a:spAutoFit/>
          </a:bodyPr>
          <a:lstStyle/>
          <a:p>
            <a:pPr algn="ctr"/>
            <a:r>
              <a:rPr sz="2000" b="1" i="1">
                <a:solidFill>
                  <a:srgbClr val="F2862F"/>
                </a:solidFill>
                <a:latin typeface="Calibri"/>
              </a:rPr>
              <a:t>SARTHI converts a ₹5,000 CAC into a ₹500 CAC,</a:t>
            </a:r>
          </a:p>
          <a:p>
            <a:pPr algn="ctr"/>
            <a:r>
              <a:rPr sz="2000" b="1" i="1">
                <a:solidFill>
                  <a:srgbClr val="F2862F"/>
                </a:solidFill>
                <a:latin typeface="Calibri"/>
              </a:rPr>
              <a:t>and a one-time loan into a 30-year relationship.</a:t>
            </a:r>
          </a:p>
        </p:txBody>
      </p:sp>
      <p:sp>
        <p:nvSpPr>
          <p:cNvPr id="8" name="TextBox 7"/>
          <p:cNvSpPr txBox="1"/>
          <p:nvPr/>
        </p:nvSpPr>
        <p:spPr>
          <a:xfrm>
            <a:off x="457200" y="2514600"/>
            <a:ext cx="11247120" cy="365760"/>
          </a:xfrm>
          <a:prstGeom prst="rect">
            <a:avLst/>
          </a:prstGeom>
          <a:noFill/>
        </p:spPr>
        <p:txBody>
          <a:bodyPr wrap="square" lIns="50800" rIns="50800" tIns="25400" bIns="25400" anchor="t">
            <a:spAutoFit/>
          </a:bodyPr>
          <a:lstStyle/>
          <a:p>
            <a:pPr algn="l"/>
            <a:r>
              <a:rPr sz="1400" b="1" i="0">
                <a:solidFill>
                  <a:srgbClr val="1E1B4B"/>
                </a:solidFill>
                <a:latin typeface="Calibri"/>
              </a:rPr>
              <a:t>Four revenue streams — not just loan interest</a:t>
            </a:r>
          </a:p>
        </p:txBody>
      </p:sp>
      <p:sp>
        <p:nvSpPr>
          <p:cNvPr id="9" name="Rounded Rectangle 8"/>
          <p:cNvSpPr/>
          <p:nvPr/>
        </p:nvSpPr>
        <p:spPr>
          <a:xfrm>
            <a:off x="457200" y="2971800"/>
            <a:ext cx="5486400" cy="141732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971800"/>
            <a:ext cx="109728" cy="1417320"/>
          </a:xfrm>
          <a:prstGeom prst="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081528"/>
            <a:ext cx="5029200" cy="365760"/>
          </a:xfrm>
          <a:prstGeom prst="rect">
            <a:avLst/>
          </a:prstGeom>
          <a:noFill/>
        </p:spPr>
        <p:txBody>
          <a:bodyPr wrap="square" lIns="50800" rIns="50800" tIns="25400" bIns="25400" anchor="t">
            <a:spAutoFit/>
          </a:bodyPr>
          <a:lstStyle/>
          <a:p>
            <a:pPr algn="l"/>
            <a:r>
              <a:rPr sz="1300" b="1" i="0">
                <a:solidFill>
                  <a:srgbClr val="1E1B4B"/>
                </a:solidFill>
                <a:latin typeface="Calibri"/>
              </a:rPr>
              <a:t>1.  Loan Origination (Primary)</a:t>
            </a:r>
          </a:p>
        </p:txBody>
      </p:sp>
      <p:sp>
        <p:nvSpPr>
          <p:cNvPr id="12" name="TextBox 11"/>
          <p:cNvSpPr txBox="1"/>
          <p:nvPr/>
        </p:nvSpPr>
        <p:spPr>
          <a:xfrm>
            <a:off x="777240" y="3429000"/>
            <a:ext cx="5029200" cy="502920"/>
          </a:xfrm>
          <a:prstGeom prst="rect">
            <a:avLst/>
          </a:prstGeom>
          <a:noFill/>
        </p:spPr>
        <p:txBody>
          <a:bodyPr wrap="square" lIns="50800" rIns="50800" tIns="25400" bIns="25400" anchor="t">
            <a:spAutoFit/>
          </a:bodyPr>
          <a:lstStyle/>
          <a:p>
            <a:pPr algn="l"/>
            <a:r>
              <a:rPr sz="1100" b="0" i="0">
                <a:solidFill>
                  <a:srgbClr val="4B4B57"/>
                </a:solidFill>
                <a:latin typeface="Calibri"/>
              </a:rPr>
              <a:t>Revenue-share on every Poonawalla-disbursed loan.</a:t>
            </a:r>
          </a:p>
        </p:txBody>
      </p:sp>
      <p:sp>
        <p:nvSpPr>
          <p:cNvPr id="13" name="TextBox 12"/>
          <p:cNvSpPr txBox="1"/>
          <p:nvPr/>
        </p:nvSpPr>
        <p:spPr>
          <a:xfrm>
            <a:off x="777240" y="3931920"/>
            <a:ext cx="5029200" cy="365760"/>
          </a:xfrm>
          <a:prstGeom prst="rect">
            <a:avLst/>
          </a:prstGeom>
          <a:noFill/>
        </p:spPr>
        <p:txBody>
          <a:bodyPr wrap="square" lIns="50800" rIns="50800" tIns="25400" bIns="25400" anchor="t">
            <a:spAutoFit/>
          </a:bodyPr>
          <a:lstStyle/>
          <a:p>
            <a:pPr algn="l"/>
            <a:r>
              <a:rPr sz="1200" b="1" i="1">
                <a:solidFill>
                  <a:srgbClr val="F2862F"/>
                </a:solidFill>
                <a:latin typeface="Calibri"/>
              </a:rPr>
              <a:t>~1–2% of loan value</a:t>
            </a:r>
          </a:p>
        </p:txBody>
      </p:sp>
      <p:sp>
        <p:nvSpPr>
          <p:cNvPr id="14" name="Rounded Rectangle 13"/>
          <p:cNvSpPr/>
          <p:nvPr/>
        </p:nvSpPr>
        <p:spPr>
          <a:xfrm>
            <a:off x="6172200" y="2971800"/>
            <a:ext cx="5486400" cy="141732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2971800"/>
            <a:ext cx="109728" cy="1417320"/>
          </a:xfrm>
          <a:prstGeom prst="rect">
            <a:avLst/>
          </a:prstGeom>
          <a:solidFill>
            <a:srgbClr val="3B3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3081528"/>
            <a:ext cx="5029200" cy="365760"/>
          </a:xfrm>
          <a:prstGeom prst="rect">
            <a:avLst/>
          </a:prstGeom>
          <a:noFill/>
        </p:spPr>
        <p:txBody>
          <a:bodyPr wrap="square" lIns="50800" rIns="50800" tIns="25400" bIns="25400" anchor="t">
            <a:spAutoFit/>
          </a:bodyPr>
          <a:lstStyle/>
          <a:p>
            <a:pPr algn="l"/>
            <a:r>
              <a:rPr sz="1300" b="1" i="0">
                <a:solidFill>
                  <a:srgbClr val="1E1B4B"/>
                </a:solidFill>
                <a:latin typeface="Calibri"/>
              </a:rPr>
              <a:t>2.  University Lead-Gen</a:t>
            </a:r>
          </a:p>
        </p:txBody>
      </p:sp>
      <p:sp>
        <p:nvSpPr>
          <p:cNvPr id="17" name="TextBox 16"/>
          <p:cNvSpPr txBox="1"/>
          <p:nvPr/>
        </p:nvSpPr>
        <p:spPr>
          <a:xfrm>
            <a:off x="6492240" y="3429000"/>
            <a:ext cx="5029200" cy="502920"/>
          </a:xfrm>
          <a:prstGeom prst="rect">
            <a:avLst/>
          </a:prstGeom>
          <a:noFill/>
        </p:spPr>
        <p:txBody>
          <a:bodyPr wrap="square" lIns="50800" rIns="50800" tIns="25400" bIns="25400" anchor="t">
            <a:spAutoFit/>
          </a:bodyPr>
          <a:lstStyle/>
          <a:p>
            <a:pPr algn="l"/>
            <a:r>
              <a:rPr sz="1100" b="0" i="0">
                <a:solidFill>
                  <a:srgbClr val="4B4B57"/>
                </a:solidFill>
                <a:latin typeface="Calibri"/>
              </a:rPr>
              <a:t>Universities pay per qualified, intent-verified applicant.</a:t>
            </a:r>
          </a:p>
        </p:txBody>
      </p:sp>
      <p:sp>
        <p:nvSpPr>
          <p:cNvPr id="18" name="TextBox 17"/>
          <p:cNvSpPr txBox="1"/>
          <p:nvPr/>
        </p:nvSpPr>
        <p:spPr>
          <a:xfrm>
            <a:off x="6492240" y="3931920"/>
            <a:ext cx="5029200" cy="365760"/>
          </a:xfrm>
          <a:prstGeom prst="rect">
            <a:avLst/>
          </a:prstGeom>
          <a:noFill/>
        </p:spPr>
        <p:txBody>
          <a:bodyPr wrap="square" lIns="50800" rIns="50800" tIns="25400" bIns="25400" anchor="t">
            <a:spAutoFit/>
          </a:bodyPr>
          <a:lstStyle/>
          <a:p>
            <a:pPr algn="l"/>
            <a:r>
              <a:rPr sz="1200" b="1" i="1">
                <a:solidFill>
                  <a:srgbClr val="F2862F"/>
                </a:solidFill>
                <a:latin typeface="Calibri"/>
              </a:rPr>
              <a:t>₹500–₹2,000 per lead</a:t>
            </a:r>
          </a:p>
        </p:txBody>
      </p:sp>
      <p:sp>
        <p:nvSpPr>
          <p:cNvPr id="19" name="Rounded Rectangle 18"/>
          <p:cNvSpPr/>
          <p:nvPr/>
        </p:nvSpPr>
        <p:spPr>
          <a:xfrm>
            <a:off x="457200" y="4617720"/>
            <a:ext cx="5486400" cy="141732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617720"/>
            <a:ext cx="109728" cy="1417320"/>
          </a:xfrm>
          <a:prstGeom prst="rect">
            <a:avLst/>
          </a:prstGeom>
          <a:solidFill>
            <a:srgbClr val="3B3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727448"/>
            <a:ext cx="5029200" cy="365760"/>
          </a:xfrm>
          <a:prstGeom prst="rect">
            <a:avLst/>
          </a:prstGeom>
          <a:noFill/>
        </p:spPr>
        <p:txBody>
          <a:bodyPr wrap="square" lIns="50800" rIns="50800" tIns="25400" bIns="25400" anchor="t">
            <a:spAutoFit/>
          </a:bodyPr>
          <a:lstStyle/>
          <a:p>
            <a:pPr algn="l"/>
            <a:r>
              <a:rPr sz="1300" b="1" i="0">
                <a:solidFill>
                  <a:srgbClr val="1E1B4B"/>
                </a:solidFill>
                <a:latin typeface="Calibri"/>
              </a:rPr>
              <a:t>3.  Premium Student Tier</a:t>
            </a:r>
          </a:p>
        </p:txBody>
      </p:sp>
      <p:sp>
        <p:nvSpPr>
          <p:cNvPr id="22" name="TextBox 21"/>
          <p:cNvSpPr txBox="1"/>
          <p:nvPr/>
        </p:nvSpPr>
        <p:spPr>
          <a:xfrm>
            <a:off x="777240" y="5074920"/>
            <a:ext cx="5029200" cy="502920"/>
          </a:xfrm>
          <a:prstGeom prst="rect">
            <a:avLst/>
          </a:prstGeom>
          <a:noFill/>
        </p:spPr>
        <p:txBody>
          <a:bodyPr wrap="square" lIns="50800" rIns="50800" tIns="25400" bIns="25400" anchor="t">
            <a:spAutoFit/>
          </a:bodyPr>
          <a:lstStyle/>
          <a:p>
            <a:pPr algn="l"/>
            <a:r>
              <a:rPr sz="1100" b="0" i="0">
                <a:solidFill>
                  <a:srgbClr val="4B4B57"/>
                </a:solidFill>
                <a:latin typeface="Calibri"/>
              </a:rPr>
              <a:t>Unlimited SOPs · priority nudges · mock-interview coach.</a:t>
            </a:r>
          </a:p>
        </p:txBody>
      </p:sp>
      <p:sp>
        <p:nvSpPr>
          <p:cNvPr id="23" name="TextBox 22"/>
          <p:cNvSpPr txBox="1"/>
          <p:nvPr/>
        </p:nvSpPr>
        <p:spPr>
          <a:xfrm>
            <a:off x="777240" y="5577840"/>
            <a:ext cx="5029200" cy="365760"/>
          </a:xfrm>
          <a:prstGeom prst="rect">
            <a:avLst/>
          </a:prstGeom>
          <a:noFill/>
        </p:spPr>
        <p:txBody>
          <a:bodyPr wrap="square" lIns="50800" rIns="50800" tIns="25400" bIns="25400" anchor="t">
            <a:spAutoFit/>
          </a:bodyPr>
          <a:lstStyle/>
          <a:p>
            <a:pPr algn="l"/>
            <a:r>
              <a:rPr sz="1200" b="1" i="1">
                <a:solidFill>
                  <a:srgbClr val="F2862F"/>
                </a:solidFill>
                <a:latin typeface="Calibri"/>
              </a:rPr>
              <a:t>₹299–₹499 / month</a:t>
            </a:r>
          </a:p>
        </p:txBody>
      </p:sp>
      <p:sp>
        <p:nvSpPr>
          <p:cNvPr id="24" name="Rounded Rectangle 23"/>
          <p:cNvSpPr/>
          <p:nvPr/>
        </p:nvSpPr>
        <p:spPr>
          <a:xfrm>
            <a:off x="6172200" y="4617720"/>
            <a:ext cx="5486400" cy="141732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72200" y="4617720"/>
            <a:ext cx="109728" cy="1417320"/>
          </a:xfrm>
          <a:prstGeom prst="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4727448"/>
            <a:ext cx="5029200" cy="365760"/>
          </a:xfrm>
          <a:prstGeom prst="rect">
            <a:avLst/>
          </a:prstGeom>
          <a:noFill/>
        </p:spPr>
        <p:txBody>
          <a:bodyPr wrap="square" lIns="50800" rIns="50800" tIns="25400" bIns="25400" anchor="t">
            <a:spAutoFit/>
          </a:bodyPr>
          <a:lstStyle/>
          <a:p>
            <a:pPr algn="l"/>
            <a:r>
              <a:rPr sz="1300" b="1" i="0">
                <a:solidFill>
                  <a:srgbClr val="1E1B4B"/>
                </a:solidFill>
                <a:latin typeface="Calibri"/>
              </a:rPr>
              <a:t>4.  White-label Agent (Phase 2)</a:t>
            </a:r>
          </a:p>
        </p:txBody>
      </p:sp>
      <p:sp>
        <p:nvSpPr>
          <p:cNvPr id="27" name="TextBox 26"/>
          <p:cNvSpPr txBox="1"/>
          <p:nvPr/>
        </p:nvSpPr>
        <p:spPr>
          <a:xfrm>
            <a:off x="6492240" y="5074920"/>
            <a:ext cx="5029200" cy="502920"/>
          </a:xfrm>
          <a:prstGeom prst="rect">
            <a:avLst/>
          </a:prstGeom>
          <a:noFill/>
        </p:spPr>
        <p:txBody>
          <a:bodyPr wrap="square" lIns="50800" rIns="50800" tIns="25400" bIns="25400" anchor="t">
            <a:spAutoFit/>
          </a:bodyPr>
          <a:lstStyle/>
          <a:p>
            <a:pPr algn="l"/>
            <a:r>
              <a:rPr sz="1100" b="0" i="0">
                <a:solidFill>
                  <a:srgbClr val="4B4B57"/>
                </a:solidFill>
                <a:latin typeface="Calibri"/>
              </a:rPr>
              <a:t>License agent to other NBFCs / BFSI after exclusivity.</a:t>
            </a:r>
          </a:p>
        </p:txBody>
      </p:sp>
      <p:sp>
        <p:nvSpPr>
          <p:cNvPr id="28" name="TextBox 27"/>
          <p:cNvSpPr txBox="1"/>
          <p:nvPr/>
        </p:nvSpPr>
        <p:spPr>
          <a:xfrm>
            <a:off x="6492240" y="5577840"/>
            <a:ext cx="5029200" cy="365760"/>
          </a:xfrm>
          <a:prstGeom prst="rect">
            <a:avLst/>
          </a:prstGeom>
          <a:noFill/>
        </p:spPr>
        <p:txBody>
          <a:bodyPr wrap="square" lIns="50800" rIns="50800" tIns="25400" bIns="25400" anchor="t">
            <a:spAutoFit/>
          </a:bodyPr>
          <a:lstStyle/>
          <a:p>
            <a:pPr algn="l"/>
            <a:r>
              <a:rPr sz="1200" b="1" i="1">
                <a:solidFill>
                  <a:srgbClr val="F2862F"/>
                </a:solidFill>
                <a:latin typeface="Calibri"/>
              </a:rPr>
              <a:t>Annual contract</a:t>
            </a:r>
          </a:p>
        </p:txBody>
      </p:sp>
      <p:sp>
        <p:nvSpPr>
          <p:cNvPr id="29" name="Rounded Rectangle 28"/>
          <p:cNvSpPr/>
          <p:nvPr/>
        </p:nvSpPr>
        <p:spPr>
          <a:xfrm>
            <a:off x="457200" y="5897880"/>
            <a:ext cx="11247120" cy="45720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5925312"/>
            <a:ext cx="11247120" cy="411480"/>
          </a:xfrm>
          <a:prstGeom prst="rect">
            <a:avLst/>
          </a:prstGeom>
          <a:noFill/>
        </p:spPr>
        <p:txBody>
          <a:bodyPr wrap="square" lIns="50800" rIns="50800" tIns="25400" bIns="25400" anchor="t">
            <a:spAutoFit/>
          </a:bodyPr>
          <a:lstStyle/>
          <a:p>
            <a:pPr algn="ctr"/>
            <a:r>
              <a:rPr sz="1200" b="1" i="1">
                <a:solidFill>
                  <a:srgbClr val="FFFFFF"/>
                </a:solidFill>
                <a:latin typeface="Calibri"/>
              </a:rPr>
              <a:t>GTM: Launch exclusively with Poonawalla Fincorp  ·  24-month exclusivity  ·  Multi-lender expansion in Phase 2</a:t>
            </a:r>
          </a:p>
        </p:txBody>
      </p:sp>
      <p:sp>
        <p:nvSpPr>
          <p:cNvPr id="31" name="Rectangle 30"/>
          <p:cNvSpPr/>
          <p:nvPr/>
        </p:nvSpPr>
        <p:spPr>
          <a:xfrm>
            <a:off x="0" y="6537960"/>
            <a:ext cx="12191695" cy="32004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565392"/>
            <a:ext cx="11247120" cy="274320"/>
          </a:xfrm>
          <a:prstGeom prst="rect">
            <a:avLst/>
          </a:prstGeom>
          <a:noFill/>
        </p:spPr>
        <p:txBody>
          <a:bodyPr wrap="square" lIns="50800" rIns="50800" tIns="25400" bIns="25400" anchor="t">
            <a:spAutoFit/>
          </a:bodyPr>
          <a:lstStyle/>
          <a:p>
            <a:pPr algn="l"/>
            <a:r>
              <a:rPr sz="1000" b="0" i="1">
                <a:solidFill>
                  <a:srgbClr val="FFFFFF"/>
                </a:solidFill>
                <a:latin typeface="Calibri"/>
              </a:rPr>
              <a:t>SARTHI  ·  Your AI Sarthi — from dream to degree.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2920"/>
            <a:ext cx="109728" cy="502920"/>
          </a:xfrm>
          <a:prstGeom prst="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11480"/>
            <a:ext cx="10972800" cy="731520"/>
          </a:xfrm>
          <a:prstGeom prst="rect">
            <a:avLst/>
          </a:prstGeom>
          <a:noFill/>
        </p:spPr>
        <p:txBody>
          <a:bodyPr wrap="square" lIns="50800" rIns="50800" tIns="25400" bIns="25400" anchor="t">
            <a:spAutoFit/>
          </a:bodyPr>
          <a:lstStyle/>
          <a:p>
            <a:pPr algn="l"/>
            <a:r>
              <a:rPr sz="3200" b="1" i="0">
                <a:solidFill>
                  <a:srgbClr val="1E1B4B"/>
                </a:solidFill>
                <a:latin typeface="Calibri"/>
              </a:rPr>
              <a:t>Prototype May 3. Scale-ready by month 12.</a:t>
            </a:r>
          </a:p>
        </p:txBody>
      </p:sp>
      <p:sp>
        <p:nvSpPr>
          <p:cNvPr id="5" name="Rectangle 4"/>
          <p:cNvSpPr/>
          <p:nvPr/>
        </p:nvSpPr>
        <p:spPr>
          <a:xfrm>
            <a:off x="457200" y="1143000"/>
            <a:ext cx="11247120" cy="12700"/>
          </a:xfrm>
          <a:prstGeom prst="rect">
            <a:avLst/>
          </a:prstGeom>
          <a:solidFill>
            <a:srgbClr val="E8E8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417320"/>
            <a:ext cx="3657600" cy="484632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417320"/>
            <a:ext cx="3657600" cy="822960"/>
          </a:xfrm>
          <a:prstGeom prst="roundRect">
            <a:avLst/>
          </a:prstGeom>
          <a:solidFill>
            <a:srgbClr val="3B3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08760"/>
            <a:ext cx="3291840" cy="365760"/>
          </a:xfrm>
          <a:prstGeom prst="rect">
            <a:avLst/>
          </a:prstGeom>
          <a:noFill/>
        </p:spPr>
        <p:txBody>
          <a:bodyPr wrap="square" lIns="50800" rIns="50800" tIns="25400" bIns="25400" anchor="t">
            <a:spAutoFit/>
          </a:bodyPr>
          <a:lstStyle/>
          <a:p>
            <a:pPr algn="l"/>
            <a:r>
              <a:rPr sz="1600" b="1" i="0">
                <a:solidFill>
                  <a:srgbClr val="FFFFFF"/>
                </a:solidFill>
                <a:latin typeface="Calibri"/>
              </a:rPr>
              <a:t>14-DAY BUILD</a:t>
            </a:r>
          </a:p>
        </p:txBody>
      </p:sp>
      <p:sp>
        <p:nvSpPr>
          <p:cNvPr id="9" name="TextBox 8"/>
          <p:cNvSpPr txBox="1"/>
          <p:nvPr/>
        </p:nvSpPr>
        <p:spPr>
          <a:xfrm>
            <a:off x="777240" y="1874520"/>
            <a:ext cx="3291840" cy="365760"/>
          </a:xfrm>
          <a:prstGeom prst="rect">
            <a:avLst/>
          </a:prstGeom>
          <a:noFill/>
        </p:spPr>
        <p:txBody>
          <a:bodyPr wrap="square" lIns="50800" rIns="50800" tIns="25400" bIns="25400" anchor="t">
            <a:spAutoFit/>
          </a:bodyPr>
          <a:lstStyle/>
          <a:p>
            <a:pPr algn="l"/>
            <a:r>
              <a:rPr sz="1200" b="0" i="1">
                <a:solidFill>
                  <a:srgbClr val="E8E8EF"/>
                </a:solidFill>
                <a:latin typeface="Calibri"/>
              </a:rPr>
              <a:t>Apr 19 → May 3</a:t>
            </a:r>
          </a:p>
        </p:txBody>
      </p:sp>
      <p:sp>
        <p:nvSpPr>
          <p:cNvPr id="10" name="TextBox 9"/>
          <p:cNvSpPr txBox="1"/>
          <p:nvPr/>
        </p:nvSpPr>
        <p:spPr>
          <a:xfrm>
            <a:off x="777240" y="242316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W1: Agent core + memory</a:t>
            </a:r>
          </a:p>
        </p:txBody>
      </p:sp>
      <p:sp>
        <p:nvSpPr>
          <p:cNvPr id="11" name="TextBox 10"/>
          <p:cNvSpPr txBox="1"/>
          <p:nvPr/>
        </p:nvSpPr>
        <p:spPr>
          <a:xfrm>
            <a:off x="777240" y="292608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W1: Shortlister + ROI Predictor</a:t>
            </a:r>
          </a:p>
        </p:txBody>
      </p:sp>
      <p:sp>
        <p:nvSpPr>
          <p:cNvPr id="12" name="TextBox 11"/>
          <p:cNvSpPr txBox="1"/>
          <p:nvPr/>
        </p:nvSpPr>
        <p:spPr>
          <a:xfrm>
            <a:off x="777240" y="342900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W2: SOP Co-Pilot + Loan Offer</a:t>
            </a:r>
          </a:p>
        </p:txBody>
      </p:sp>
      <p:sp>
        <p:nvSpPr>
          <p:cNvPr id="13" name="TextBox 12"/>
          <p:cNvSpPr txBox="1"/>
          <p:nvPr/>
        </p:nvSpPr>
        <p:spPr>
          <a:xfrm>
            <a:off x="777240" y="393192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W2: Auto-fill + Passport + Voice</a:t>
            </a:r>
          </a:p>
        </p:txBody>
      </p:sp>
      <p:sp>
        <p:nvSpPr>
          <p:cNvPr id="14" name="TextBox 13"/>
          <p:cNvSpPr txBox="1"/>
          <p:nvPr/>
        </p:nvSpPr>
        <p:spPr>
          <a:xfrm>
            <a:off x="777240" y="443484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Deploy: Vercel + GitHub</a:t>
            </a:r>
          </a:p>
        </p:txBody>
      </p:sp>
      <p:sp>
        <p:nvSpPr>
          <p:cNvPr id="15" name="TextBox 14"/>
          <p:cNvSpPr txBox="1"/>
          <p:nvPr/>
        </p:nvSpPr>
        <p:spPr>
          <a:xfrm>
            <a:off x="777240" y="493776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Scripted Priya demo flow</a:t>
            </a:r>
          </a:p>
        </p:txBody>
      </p:sp>
      <p:sp>
        <p:nvSpPr>
          <p:cNvPr id="16" name="Rounded Rectangle 15"/>
          <p:cNvSpPr/>
          <p:nvPr/>
        </p:nvSpPr>
        <p:spPr>
          <a:xfrm>
            <a:off x="4297680" y="1417320"/>
            <a:ext cx="3657600" cy="484632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297680" y="1417320"/>
            <a:ext cx="3657600" cy="8229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1508760"/>
            <a:ext cx="3291840" cy="365760"/>
          </a:xfrm>
          <a:prstGeom prst="rect">
            <a:avLst/>
          </a:prstGeom>
          <a:noFill/>
        </p:spPr>
        <p:txBody>
          <a:bodyPr wrap="square" lIns="50800" rIns="50800" tIns="25400" bIns="25400" anchor="t">
            <a:spAutoFit/>
          </a:bodyPr>
          <a:lstStyle/>
          <a:p>
            <a:pPr algn="l"/>
            <a:r>
              <a:rPr sz="1600" b="1" i="0">
                <a:solidFill>
                  <a:srgbClr val="FFFFFF"/>
                </a:solidFill>
                <a:latin typeface="Calibri"/>
              </a:rPr>
              <a:t>PHASE 2</a:t>
            </a:r>
          </a:p>
        </p:txBody>
      </p:sp>
      <p:sp>
        <p:nvSpPr>
          <p:cNvPr id="19" name="TextBox 18"/>
          <p:cNvSpPr txBox="1"/>
          <p:nvPr/>
        </p:nvSpPr>
        <p:spPr>
          <a:xfrm>
            <a:off x="4572000" y="1874520"/>
            <a:ext cx="3291840" cy="365760"/>
          </a:xfrm>
          <a:prstGeom prst="rect">
            <a:avLst/>
          </a:prstGeom>
          <a:noFill/>
        </p:spPr>
        <p:txBody>
          <a:bodyPr wrap="square" lIns="50800" rIns="50800" tIns="25400" bIns="25400" anchor="t">
            <a:spAutoFit/>
          </a:bodyPr>
          <a:lstStyle/>
          <a:p>
            <a:pPr algn="l"/>
            <a:r>
              <a:rPr sz="1200" b="0" i="1">
                <a:solidFill>
                  <a:srgbClr val="E8E8EF"/>
                </a:solidFill>
                <a:latin typeface="Calibri"/>
              </a:rPr>
              <a:t>6 months</a:t>
            </a:r>
          </a:p>
        </p:txBody>
      </p:sp>
      <p:sp>
        <p:nvSpPr>
          <p:cNvPr id="20" name="TextBox 19"/>
          <p:cNvSpPr txBox="1"/>
          <p:nvPr/>
        </p:nvSpPr>
        <p:spPr>
          <a:xfrm>
            <a:off x="4572000" y="242316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Domestic PG market</a:t>
            </a:r>
          </a:p>
        </p:txBody>
      </p:sp>
      <p:sp>
        <p:nvSpPr>
          <p:cNvPr id="21" name="TextBox 20"/>
          <p:cNvSpPr txBox="1"/>
          <p:nvPr/>
        </p:nvSpPr>
        <p:spPr>
          <a:xfrm>
            <a:off x="4572000" y="292608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CAT / GATE · IIMs · NITs</a:t>
            </a:r>
          </a:p>
        </p:txBody>
      </p:sp>
      <p:sp>
        <p:nvSpPr>
          <p:cNvPr id="22" name="TextBox 21"/>
          <p:cNvSpPr txBox="1"/>
          <p:nvPr/>
        </p:nvSpPr>
        <p:spPr>
          <a:xfrm>
            <a:off x="4572000" y="342900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Private MBAs</a:t>
            </a:r>
          </a:p>
        </p:txBody>
      </p:sp>
      <p:sp>
        <p:nvSpPr>
          <p:cNvPr id="23" name="TextBox 22"/>
          <p:cNvSpPr txBox="1"/>
          <p:nvPr/>
        </p:nvSpPr>
        <p:spPr>
          <a:xfrm>
            <a:off x="4572000" y="393192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+5 Indian languages</a:t>
            </a:r>
          </a:p>
        </p:txBody>
      </p:sp>
      <p:sp>
        <p:nvSpPr>
          <p:cNvPr id="24" name="TextBox 23"/>
          <p:cNvSpPr txBox="1"/>
          <p:nvPr/>
        </p:nvSpPr>
        <p:spPr>
          <a:xfrm>
            <a:off x="4572000" y="443484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(Tamil · Telugu · Marathi · Bengali · Kannada)</a:t>
            </a:r>
          </a:p>
        </p:txBody>
      </p:sp>
      <p:sp>
        <p:nvSpPr>
          <p:cNvPr id="25" name="TextBox 24"/>
          <p:cNvSpPr txBox="1"/>
          <p:nvPr/>
        </p:nvSpPr>
        <p:spPr>
          <a:xfrm>
            <a:off x="4572000" y="493776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Real university data partnerships</a:t>
            </a:r>
          </a:p>
        </p:txBody>
      </p:sp>
      <p:sp>
        <p:nvSpPr>
          <p:cNvPr id="26" name="Rounded Rectangle 25"/>
          <p:cNvSpPr/>
          <p:nvPr/>
        </p:nvSpPr>
        <p:spPr>
          <a:xfrm>
            <a:off x="8092440" y="1417320"/>
            <a:ext cx="3657600" cy="4846320"/>
          </a:xfrm>
          <a:prstGeom prst="roundRect">
            <a:avLst/>
          </a:prstGeom>
          <a:solidFill>
            <a:srgbClr val="FFFFFF"/>
          </a:solidFill>
          <a:ln w="9525">
            <a:solidFill>
              <a:srgbClr val="E8E8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092440" y="1417320"/>
            <a:ext cx="3657600" cy="822960"/>
          </a:xfrm>
          <a:prstGeom prst="round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6760" y="1508760"/>
            <a:ext cx="3291840" cy="365760"/>
          </a:xfrm>
          <a:prstGeom prst="rect">
            <a:avLst/>
          </a:prstGeom>
          <a:noFill/>
        </p:spPr>
        <p:txBody>
          <a:bodyPr wrap="square" lIns="50800" rIns="50800" tIns="25400" bIns="25400" anchor="t">
            <a:spAutoFit/>
          </a:bodyPr>
          <a:lstStyle/>
          <a:p>
            <a:pPr algn="l"/>
            <a:r>
              <a:rPr sz="1600" b="1" i="0">
                <a:solidFill>
                  <a:srgbClr val="1E1B4B"/>
                </a:solidFill>
                <a:latin typeface="Calibri"/>
              </a:rPr>
              <a:t>PHASE 3</a:t>
            </a:r>
          </a:p>
        </p:txBody>
      </p:sp>
      <p:sp>
        <p:nvSpPr>
          <p:cNvPr id="29" name="TextBox 28"/>
          <p:cNvSpPr txBox="1"/>
          <p:nvPr/>
        </p:nvSpPr>
        <p:spPr>
          <a:xfrm>
            <a:off x="8366760" y="1874520"/>
            <a:ext cx="3291840" cy="365760"/>
          </a:xfrm>
          <a:prstGeom prst="rect">
            <a:avLst/>
          </a:prstGeom>
          <a:noFill/>
        </p:spPr>
        <p:txBody>
          <a:bodyPr wrap="square" lIns="50800" rIns="50800" tIns="25400" bIns="25400" anchor="t">
            <a:spAutoFit/>
          </a:bodyPr>
          <a:lstStyle/>
          <a:p>
            <a:pPr algn="l"/>
            <a:r>
              <a:rPr sz="1200" b="0" i="1">
                <a:solidFill>
                  <a:srgbClr val="1E1B4B"/>
                </a:solidFill>
                <a:latin typeface="Calibri"/>
              </a:rPr>
              <a:t>12 months</a:t>
            </a:r>
          </a:p>
        </p:txBody>
      </p:sp>
      <p:sp>
        <p:nvSpPr>
          <p:cNvPr id="30" name="TextBox 29"/>
          <p:cNvSpPr txBox="1"/>
          <p:nvPr/>
        </p:nvSpPr>
        <p:spPr>
          <a:xfrm>
            <a:off x="8366760" y="242316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White-label agent for BFSI</a:t>
            </a:r>
          </a:p>
        </p:txBody>
      </p:sp>
      <p:sp>
        <p:nvSpPr>
          <p:cNvPr id="31" name="TextBox 30"/>
          <p:cNvSpPr txBox="1"/>
          <p:nvPr/>
        </p:nvSpPr>
        <p:spPr>
          <a:xfrm>
            <a:off x="8366760" y="292608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Licensed to other NBFCs</a:t>
            </a:r>
          </a:p>
        </p:txBody>
      </p:sp>
      <p:sp>
        <p:nvSpPr>
          <p:cNvPr id="32" name="TextBox 31"/>
          <p:cNvSpPr txBox="1"/>
          <p:nvPr/>
        </p:nvSpPr>
        <p:spPr>
          <a:xfrm>
            <a:off x="8366760" y="342900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Intl corridors: Nepal, BD, SL → abroad</a:t>
            </a:r>
          </a:p>
        </p:txBody>
      </p:sp>
      <p:sp>
        <p:nvSpPr>
          <p:cNvPr id="33" name="TextBox 32"/>
          <p:cNvSpPr txBox="1"/>
          <p:nvPr/>
        </p:nvSpPr>
        <p:spPr>
          <a:xfrm>
            <a:off x="8366760" y="393192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Cross-sell pipeline</a:t>
            </a:r>
          </a:p>
        </p:txBody>
      </p:sp>
      <p:sp>
        <p:nvSpPr>
          <p:cNvPr id="34" name="TextBox 33"/>
          <p:cNvSpPr txBox="1"/>
          <p:nvPr/>
        </p:nvSpPr>
        <p:spPr>
          <a:xfrm>
            <a:off x="8366760" y="443484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(personal · home · business loans)</a:t>
            </a:r>
          </a:p>
        </p:txBody>
      </p:sp>
      <p:sp>
        <p:nvSpPr>
          <p:cNvPr id="35" name="TextBox 34"/>
          <p:cNvSpPr txBox="1"/>
          <p:nvPr/>
        </p:nvSpPr>
        <p:spPr>
          <a:xfrm>
            <a:off x="8366760" y="4937760"/>
            <a:ext cx="3291840" cy="411480"/>
          </a:xfrm>
          <a:prstGeom prst="rect">
            <a:avLst/>
          </a:prstGeom>
          <a:noFill/>
        </p:spPr>
        <p:txBody>
          <a:bodyPr wrap="square" lIns="50800" rIns="50800" tIns="25400" bIns="25400" anchor="t">
            <a:spAutoFit/>
          </a:bodyPr>
          <a:lstStyle/>
          <a:p>
            <a:pPr algn="l"/>
            <a:r>
              <a:rPr sz="1200" b="0" i="0">
                <a:solidFill>
                  <a:srgbClr val="1E1B4B"/>
                </a:solidFill>
                <a:latin typeface="Calibri"/>
              </a:rPr>
              <a:t>•  Data flywheel maturity</a:t>
            </a:r>
          </a:p>
        </p:txBody>
      </p:sp>
      <p:sp>
        <p:nvSpPr>
          <p:cNvPr id="36" name="TextBox 35"/>
          <p:cNvSpPr txBox="1"/>
          <p:nvPr/>
        </p:nvSpPr>
        <p:spPr>
          <a:xfrm>
            <a:off x="457200" y="6355080"/>
            <a:ext cx="11247120" cy="365760"/>
          </a:xfrm>
          <a:prstGeom prst="rect">
            <a:avLst/>
          </a:prstGeom>
          <a:noFill/>
        </p:spPr>
        <p:txBody>
          <a:bodyPr wrap="square" lIns="50800" rIns="50800" tIns="25400" bIns="25400" anchor="t">
            <a:spAutoFit/>
          </a:bodyPr>
          <a:lstStyle/>
          <a:p>
            <a:pPr algn="ctr"/>
            <a:r>
              <a:rPr sz="1200" b="1" i="1">
                <a:solidFill>
                  <a:srgbClr val="F2862F"/>
                </a:solidFill>
                <a:latin typeface="Calibri"/>
              </a:rPr>
              <a:t>Commitment: working prototype + GitHub by May 3.</a:t>
            </a:r>
          </a:p>
        </p:txBody>
      </p:sp>
      <p:sp>
        <p:nvSpPr>
          <p:cNvPr id="37" name="Rectangle 36"/>
          <p:cNvSpPr/>
          <p:nvPr/>
        </p:nvSpPr>
        <p:spPr>
          <a:xfrm>
            <a:off x="0" y="6537960"/>
            <a:ext cx="12191695" cy="32004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6565392"/>
            <a:ext cx="11247120" cy="274320"/>
          </a:xfrm>
          <a:prstGeom prst="rect">
            <a:avLst/>
          </a:prstGeom>
          <a:noFill/>
        </p:spPr>
        <p:txBody>
          <a:bodyPr wrap="square" lIns="50800" rIns="50800" tIns="25400" bIns="25400" anchor="t">
            <a:spAutoFit/>
          </a:bodyPr>
          <a:lstStyle/>
          <a:p>
            <a:pPr algn="l"/>
            <a:r>
              <a:rPr sz="1000" b="0" i="1">
                <a:solidFill>
                  <a:srgbClr val="FFFFFF"/>
                </a:solidFill>
                <a:latin typeface="Calibri"/>
              </a:rPr>
              <a:t>SARTHI  ·  Your AI Sarthi — from dream to degree.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645920"/>
            <a:ext cx="228600" cy="914400"/>
          </a:xfrm>
          <a:prstGeom prst="rect">
            <a:avLst/>
          </a:prstGeom>
          <a:solidFill>
            <a:srgbClr val="F286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47120" cy="1371600"/>
          </a:xfrm>
          <a:prstGeom prst="rect">
            <a:avLst/>
          </a:prstGeom>
          <a:noFill/>
        </p:spPr>
        <p:txBody>
          <a:bodyPr wrap="square" lIns="50800" rIns="50800" tIns="25400" bIns="25400" anchor="t">
            <a:spAutoFit/>
          </a:bodyPr>
          <a:lstStyle/>
          <a:p>
            <a:pPr algn="ctr"/>
            <a:r>
              <a:rPr sz="5400" b="1" i="0">
                <a:solidFill>
                  <a:srgbClr val="FFFFFF"/>
                </a:solidFill>
                <a:latin typeface="Calibri"/>
              </a:rPr>
              <a:t>Every student deserves a Sarthi.</a:t>
            </a:r>
          </a:p>
        </p:txBody>
      </p:sp>
      <p:sp>
        <p:nvSpPr>
          <p:cNvPr id="5" name="TextBox 4"/>
          <p:cNvSpPr txBox="1"/>
          <p:nvPr/>
        </p:nvSpPr>
        <p:spPr>
          <a:xfrm>
            <a:off x="457200" y="3017520"/>
            <a:ext cx="11247120" cy="548640"/>
          </a:xfrm>
          <a:prstGeom prst="rect">
            <a:avLst/>
          </a:prstGeom>
          <a:noFill/>
        </p:spPr>
        <p:txBody>
          <a:bodyPr wrap="square" lIns="50800" rIns="50800" tIns="25400" bIns="25400" anchor="t">
            <a:spAutoFit/>
          </a:bodyPr>
          <a:lstStyle/>
          <a:p>
            <a:pPr algn="ctr"/>
            <a:r>
              <a:rPr sz="2200" b="0" i="1">
                <a:solidFill>
                  <a:srgbClr val="F2862F"/>
                </a:solidFill>
                <a:latin typeface="Calibri"/>
              </a:rPr>
              <a:t>Your AI Sarthi — from dream to degree.</a:t>
            </a:r>
          </a:p>
        </p:txBody>
      </p:sp>
      <p:sp>
        <p:nvSpPr>
          <p:cNvPr id="6" name="TextBox 5"/>
          <p:cNvSpPr txBox="1"/>
          <p:nvPr/>
        </p:nvSpPr>
        <p:spPr>
          <a:xfrm>
            <a:off x="457200" y="4206240"/>
            <a:ext cx="11247120" cy="457200"/>
          </a:xfrm>
          <a:prstGeom prst="rect">
            <a:avLst/>
          </a:prstGeom>
          <a:noFill/>
        </p:spPr>
        <p:txBody>
          <a:bodyPr wrap="square" lIns="50800" rIns="50800" tIns="25400" bIns="25400" anchor="t">
            <a:spAutoFit/>
          </a:bodyPr>
          <a:lstStyle/>
          <a:p>
            <a:pPr algn="ctr"/>
            <a:r>
              <a:rPr sz="1600" b="1" i="0">
                <a:solidFill>
                  <a:srgbClr val="FFFFFF"/>
                </a:solidFill>
                <a:latin typeface="Calibri"/>
              </a:rPr>
              <a:t>Team: [Your Name]</a:t>
            </a:r>
          </a:p>
        </p:txBody>
      </p:sp>
      <p:sp>
        <p:nvSpPr>
          <p:cNvPr id="7" name="TextBox 6"/>
          <p:cNvSpPr txBox="1"/>
          <p:nvPr/>
        </p:nvSpPr>
        <p:spPr>
          <a:xfrm>
            <a:off x="457200" y="4617720"/>
            <a:ext cx="11247120" cy="457200"/>
          </a:xfrm>
          <a:prstGeom prst="rect">
            <a:avLst/>
          </a:prstGeom>
          <a:noFill/>
        </p:spPr>
        <p:txBody>
          <a:bodyPr wrap="square" lIns="50800" rIns="50800" tIns="25400" bIns="25400" anchor="t">
            <a:spAutoFit/>
          </a:bodyPr>
          <a:lstStyle/>
          <a:p>
            <a:pPr algn="ctr"/>
            <a:r>
              <a:rPr sz="1200" b="0" i="1">
                <a:solidFill>
                  <a:srgbClr val="E8E8EF"/>
                </a:solidFill>
                <a:latin typeface="Calibri"/>
              </a:rPr>
              <a:t>Human product owner  +  Claude-powered AI co-developer</a:t>
            </a:r>
          </a:p>
        </p:txBody>
      </p:sp>
      <p:sp>
        <p:nvSpPr>
          <p:cNvPr id="8" name="TextBox 7"/>
          <p:cNvSpPr txBox="1"/>
          <p:nvPr/>
        </p:nvSpPr>
        <p:spPr>
          <a:xfrm>
            <a:off x="457200" y="4937760"/>
            <a:ext cx="11247120" cy="457200"/>
          </a:xfrm>
          <a:prstGeom prst="rect">
            <a:avLst/>
          </a:prstGeom>
          <a:noFill/>
        </p:spPr>
        <p:txBody>
          <a:bodyPr wrap="square" lIns="50800" rIns="50800" tIns="25400" bIns="25400" anchor="t">
            <a:spAutoFit/>
          </a:bodyPr>
          <a:lstStyle/>
          <a:p>
            <a:pPr algn="ctr"/>
            <a:r>
              <a:rPr sz="1100" b="0" i="1">
                <a:solidFill>
                  <a:srgbClr val="E8E8EF"/>
                </a:solidFill>
                <a:latin typeface="Calibri"/>
              </a:rPr>
              <a:t>Our build process is itself a proof of 'zero-human-intervention' feasibility.</a:t>
            </a:r>
          </a:p>
        </p:txBody>
      </p:sp>
      <p:sp>
        <p:nvSpPr>
          <p:cNvPr id="9" name="TextBox 8"/>
          <p:cNvSpPr txBox="1"/>
          <p:nvPr/>
        </p:nvSpPr>
        <p:spPr>
          <a:xfrm>
            <a:off x="457200" y="5623560"/>
            <a:ext cx="11247120" cy="457200"/>
          </a:xfrm>
          <a:prstGeom prst="rect">
            <a:avLst/>
          </a:prstGeom>
          <a:noFill/>
        </p:spPr>
        <p:txBody>
          <a:bodyPr wrap="square" lIns="50800" rIns="50800" tIns="25400" bIns="25400" anchor="t">
            <a:spAutoFit/>
          </a:bodyPr>
          <a:lstStyle/>
          <a:p>
            <a:pPr algn="ctr"/>
            <a:r>
              <a:rPr sz="1300" b="0" i="0">
                <a:solidFill>
                  <a:srgbClr val="FFFFFF"/>
                </a:solidFill>
                <a:latin typeface="Calibri"/>
              </a:rPr>
              <a:t>[your-email]   ·   github.com/[your-handle]   ·   linkedin.com/in/[you]</a:t>
            </a:r>
          </a:p>
        </p:txBody>
      </p:sp>
      <p:sp>
        <p:nvSpPr>
          <p:cNvPr id="10" name="TextBox 9"/>
          <p:cNvSpPr txBox="1"/>
          <p:nvPr/>
        </p:nvSpPr>
        <p:spPr>
          <a:xfrm>
            <a:off x="457200" y="6080760"/>
            <a:ext cx="11247120" cy="365760"/>
          </a:xfrm>
          <a:prstGeom prst="rect">
            <a:avLst/>
          </a:prstGeom>
          <a:noFill/>
        </p:spPr>
        <p:txBody>
          <a:bodyPr wrap="square" lIns="50800" rIns="50800" tIns="25400" bIns="25400" anchor="t">
            <a:spAutoFit/>
          </a:bodyPr>
          <a:lstStyle/>
          <a:p>
            <a:pPr algn="ctr"/>
            <a:r>
              <a:rPr sz="1100" b="0" i="1">
                <a:solidFill>
                  <a:srgbClr val="F2862F"/>
                </a:solidFill>
                <a:latin typeface="Calibri"/>
              </a:rPr>
              <a:t>Live prototype: coming May 3 (Round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